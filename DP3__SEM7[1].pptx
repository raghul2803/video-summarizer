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9"/>
  </p:notesMasterIdLst>
  <p:sldIdLst>
    <p:sldId id="274" r:id="rId2"/>
    <p:sldId id="257" r:id="rId3"/>
    <p:sldId id="258" r:id="rId4"/>
    <p:sldId id="259" r:id="rId5"/>
    <p:sldId id="260" r:id="rId6"/>
    <p:sldId id="261" r:id="rId7"/>
    <p:sldId id="273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1" r:id="rId17"/>
    <p:sldId id="272" r:id="rId18"/>
  </p:sldIdLst>
  <p:sldSz cx="12192000" cy="6858000"/>
  <p:notesSz cx="6858000" cy="9144000"/>
  <p:embeddedFontLst>
    <p:embeddedFont>
      <p:font typeface="Arial Narrow" panose="020B0606020202030204" pitchFamily="34" charset="0"/>
      <p:regular r:id="rId20"/>
      <p:bold r:id="rId21"/>
      <p:italic r:id="rId22"/>
      <p:boldItalic r:id="rId2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9" roundtripDataSignature="AMtx7mgf10L9/O25FquuOPl/RY1EpRjfO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CDD818E-ADFA-4579-856F-A3140DA02BD1}">
  <a:tblStyle styleId="{3CDD818E-ADFA-4579-856F-A3140DA02BD1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BF1E8"/>
          </a:solidFill>
        </a:fill>
      </a:tcStyle>
    </a:wholeTbl>
    <a:band1H>
      <a:tcTxStyle/>
      <a:tcStyle>
        <a:tcBdr/>
        <a:fill>
          <a:solidFill>
            <a:srgbClr val="D4E2CE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D4E2CE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6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6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29" Type="http://customschemas.google.com/relationships/presentationmetadata" Target="meta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30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>
          <a:extLst>
            <a:ext uri="{FF2B5EF4-FFF2-40B4-BE49-F238E27FC236}">
              <a16:creationId xmlns:a16="http://schemas.microsoft.com/office/drawing/2014/main" id="{FFC7DFEF-3B2E-D017-0B21-BC210BF462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6:notes">
            <a:extLst>
              <a:ext uri="{FF2B5EF4-FFF2-40B4-BE49-F238E27FC236}">
                <a16:creationId xmlns:a16="http://schemas.microsoft.com/office/drawing/2014/main" id="{1B5CA6E9-7386-2799-6840-751B808D742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p6:notes">
            <a:extLst>
              <a:ext uri="{FF2B5EF4-FFF2-40B4-BE49-F238E27FC236}">
                <a16:creationId xmlns:a16="http://schemas.microsoft.com/office/drawing/2014/main" id="{EA42349E-92BC-7FC0-2C31-D4076D7383E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1719837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" name="Google Shape;136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" name="Google Shape;144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1" name="Google Shape;151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" name="Google Shape;158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" name="Google Shape;165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79" name="Google Shape;179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" name="Google Shape;192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>
          <a:extLst>
            <a:ext uri="{FF2B5EF4-FFF2-40B4-BE49-F238E27FC236}">
              <a16:creationId xmlns:a16="http://schemas.microsoft.com/office/drawing/2014/main" id="{3C1E655B-A341-3619-F687-C18AD4E094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6:notes">
            <a:extLst>
              <a:ext uri="{FF2B5EF4-FFF2-40B4-BE49-F238E27FC236}">
                <a16:creationId xmlns:a16="http://schemas.microsoft.com/office/drawing/2014/main" id="{42A01C9D-D513-EC7A-DB57-5A2A126154D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" name="Google Shape;192;p16:notes">
            <a:extLst>
              <a:ext uri="{FF2B5EF4-FFF2-40B4-BE49-F238E27FC236}">
                <a16:creationId xmlns:a16="http://schemas.microsoft.com/office/drawing/2014/main" id="{20F5E407-20E3-63F2-7964-49A89E8D03B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888533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" name="Google Shape;18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0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20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28" name="Google Shape;28;p20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9" name="Google Shape;29;p20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0" name="Google Shape;30;p20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1" name="Google Shape;31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1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21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37" name="Google Shape;37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2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22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3" name="Google Shape;43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2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9" name="Google Shape;49;p23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5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25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2" name="Google Shape;62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6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6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26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27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8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28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jpe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jpeg"/><Relationship Id="rId4" Type="http://schemas.openxmlformats.org/officeDocument/2006/relationships/image" Target="../media/image9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 txBox="1">
            <a:spLocks noGrp="1"/>
          </p:cNvSpPr>
          <p:nvPr>
            <p:ph type="body" idx="1"/>
          </p:nvPr>
        </p:nvSpPr>
        <p:spPr>
          <a:xfrm>
            <a:off x="261257" y="2159687"/>
            <a:ext cx="11636830" cy="4379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</a:pPr>
            <a:r>
              <a:rPr lang="en-US" sz="3600" b="1" dirty="0">
                <a:latin typeface="Arial Narrow"/>
                <a:ea typeface="Arial Narrow"/>
                <a:cs typeface="Arial Narrow"/>
                <a:sym typeface="Arial Narrow"/>
              </a:rPr>
              <a:t>DEPARTMENT OF COMPUTER SCIENCE AND ENGINEERING</a:t>
            </a:r>
            <a:endParaRPr dirty="0">
              <a:latin typeface="Arial Narrow"/>
              <a:ea typeface="Arial Narrow"/>
              <a:cs typeface="Arial Narrow"/>
              <a:sym typeface="Arial Narrow"/>
            </a:endParaRPr>
          </a:p>
          <a:p>
            <a:pPr marL="0" lvl="0" indent="0" algn="ctr">
              <a:buSzPts val="3600"/>
              <a:buNone/>
            </a:pPr>
            <a:r>
              <a:rPr lang="en-US" b="1" dirty="0">
                <a:latin typeface="Arial Narrow"/>
                <a:ea typeface="Arial Narrow"/>
                <a:cs typeface="Arial Narrow"/>
                <a:sym typeface="Arial Narrow"/>
              </a:rPr>
              <a:t>20CS7503 &amp; DESIGN PROJECT – III</a:t>
            </a:r>
          </a:p>
          <a:p>
            <a:pPr marL="0" lvl="0" indent="0" algn="ctr">
              <a:buSzPts val="3600"/>
              <a:buNone/>
            </a:pPr>
            <a:endParaRPr lang="en-US" b="1" dirty="0">
              <a:latin typeface="Arial Narrow"/>
              <a:sym typeface="Arial Narrow"/>
            </a:endParaRPr>
          </a:p>
          <a:p>
            <a:pPr marL="0" lvl="0" indent="0" algn="ctr">
              <a:buSzPts val="3600"/>
              <a:buNone/>
            </a:pPr>
            <a:r>
              <a:rPr lang="en-US" b="1" dirty="0"/>
              <a:t>END SEMESTER PRACTICAL EXAMINATION- NOV / DEC 2025</a:t>
            </a:r>
            <a:endParaRPr lang="en-US" dirty="0"/>
          </a:p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b="1" u="sng" dirty="0">
                <a:latin typeface="Arial Narrow"/>
                <a:ea typeface="Arial Narrow"/>
                <a:cs typeface="Arial Narrow"/>
                <a:sym typeface="Arial Narrow"/>
              </a:rPr>
              <a:t>REVIEW PRESENTATION</a:t>
            </a:r>
            <a:endParaRPr dirty="0">
              <a:latin typeface="Arial Narrow"/>
              <a:ea typeface="Arial Narrow"/>
              <a:cs typeface="Arial Narrow"/>
              <a:sym typeface="Arial Narrow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 b="1" dirty="0">
                <a:latin typeface="Arial Narrow"/>
                <a:ea typeface="Arial Narrow"/>
                <a:cs typeface="Arial Narrow"/>
                <a:sym typeface="Arial Narrow"/>
              </a:rPr>
              <a:t>Batch No.:9</a:t>
            </a:r>
            <a:endParaRPr lang="en-US" dirty="0">
              <a:latin typeface="Arial Narrow"/>
              <a:ea typeface="Arial Narrow"/>
              <a:cs typeface="Arial Narrow"/>
              <a:sym typeface="Arial Narrow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 b="1" dirty="0">
                <a:latin typeface="Arial Narrow"/>
                <a:ea typeface="Arial Narrow"/>
                <a:cs typeface="Arial Narrow"/>
                <a:sym typeface="Arial Narrow"/>
              </a:rPr>
              <a:t>Date: 28/11/2025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 b="1" dirty="0" err="1">
                <a:latin typeface="Arial Narrow"/>
                <a:ea typeface="Arial Narrow"/>
                <a:cs typeface="Arial Narrow"/>
                <a:sym typeface="Arial Narrow"/>
              </a:rPr>
              <a:t>Session:FN</a:t>
            </a:r>
            <a:endParaRPr b="1" dirty="0"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89" name="Google Shape;89;p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fld>
            <a:endParaRPr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91" name="Google Shape;91;p1"/>
          <p:cNvPicPr preferRelativeResize="0"/>
          <p:nvPr/>
        </p:nvPicPr>
        <p:blipFill>
          <a:blip r:embed="rId3">
            <a:alphaModFix/>
          </a:blip>
          <a:srcRect l="16357" r="14907" b="8148"/>
          <a:stretch>
            <a:fillRect/>
          </a:stretch>
        </p:blipFill>
        <p:spPr>
          <a:xfrm>
            <a:off x="11215585" y="65332"/>
            <a:ext cx="903515" cy="511635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F1154A9-AC42-7CD3-98A5-5A0376D653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932" y="0"/>
            <a:ext cx="5348811" cy="187359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"/>
          <p:cNvSpPr txBox="1">
            <a:spLocks noGrp="1"/>
          </p:cNvSpPr>
          <p:nvPr>
            <p:ph type="body" idx="1"/>
          </p:nvPr>
        </p:nvSpPr>
        <p:spPr>
          <a:xfrm>
            <a:off x="0" y="-1"/>
            <a:ext cx="12119100" cy="17403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/>
          <a:p>
            <a:pPr marL="114300" indent="0" algn="ctr">
              <a:buNone/>
            </a:pPr>
            <a:endParaRPr lang="en-GB" sz="3200" b="1" dirty="0">
              <a:latin typeface="Arial Narrow" panose="020B0606020202030204" pitchFamily="34" charset="0"/>
              <a:cs typeface="Aharoni" panose="02010803020104030203" pitchFamily="2" charset="-79"/>
            </a:endParaRPr>
          </a:p>
          <a:p>
            <a:pPr marL="114300" indent="0" algn="ctr">
              <a:buNone/>
            </a:pPr>
            <a:r>
              <a:rPr lang="en-GB" sz="3200" b="1" dirty="0">
                <a:latin typeface="Arial Narrow" panose="020B0606020202030204" pitchFamily="34" charset="0"/>
                <a:cs typeface="Aharoni" panose="02010803020104030203" pitchFamily="2" charset="-79"/>
              </a:rPr>
              <a:t> </a:t>
            </a:r>
            <a:r>
              <a:rPr lang="en-GB" sz="4300" b="1" dirty="0">
                <a:latin typeface="Arial Narrow" panose="020B0606020202030204" pitchFamily="34" charset="0"/>
                <a:cs typeface="Aharoni" panose="02010803020104030203" pitchFamily="2" charset="-79"/>
              </a:rPr>
              <a:t>YOUTUBE VIDEO SUMMARIZER USING NATURAL LANGUAGE PROCESSING</a:t>
            </a:r>
            <a:endParaRPr lang="en-GB" sz="4300" b="1" dirty="0">
              <a:latin typeface="Arial Narrow" panose="020B0606020202030204" pitchFamily="34" charset="0"/>
              <a:ea typeface="Arial Narrow"/>
              <a:cs typeface="Aharoni" panose="02010803020104030203" pitchFamily="2" charset="-79"/>
              <a:sym typeface="Arial Narrow"/>
            </a:endParaRPr>
          </a:p>
        </p:txBody>
      </p:sp>
      <p:sp>
        <p:nvSpPr>
          <p:cNvPr id="97" name="Google Shape;97;p2"/>
          <p:cNvSpPr txBox="1">
            <a:spLocks noGrp="1"/>
          </p:cNvSpPr>
          <p:nvPr>
            <p:ph type="sldNum" idx="12"/>
          </p:nvPr>
        </p:nvSpPr>
        <p:spPr>
          <a:xfrm>
            <a:off x="8610600" y="637601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b="1">
                <a:solidFill>
                  <a:schemeClr val="dk1"/>
                </a:solidFill>
                <a:latin typeface="Arial Narrow" panose="020B0606020202030204" pitchFamily="34" charset="0"/>
                <a:ea typeface="Times New Roman"/>
                <a:cs typeface="Times New Roman"/>
                <a:sym typeface="Times New Roman"/>
              </a:rPr>
              <a:t>2</a:t>
            </a:fld>
            <a:endParaRPr b="1">
              <a:solidFill>
                <a:schemeClr val="dk1"/>
              </a:solidFill>
              <a:latin typeface="Arial Narrow" panose="020B0606020202030204" pitchFamily="34" charset="0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8" name="Google Shape;98;p2"/>
          <p:cNvSpPr txBox="1">
            <a:spLocks noGrp="1"/>
          </p:cNvSpPr>
          <p:nvPr>
            <p:ph type="body" idx="1"/>
          </p:nvPr>
        </p:nvSpPr>
        <p:spPr>
          <a:xfrm>
            <a:off x="468384" y="3594414"/>
            <a:ext cx="4408416" cy="272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 b="1" dirty="0">
                <a:latin typeface="Arial Narrow" panose="020B0606020202030204" pitchFamily="34" charset="0"/>
                <a:ea typeface="Times New Roman"/>
                <a:cs typeface="Times New Roman"/>
                <a:sym typeface="Times New Roman"/>
              </a:rPr>
              <a:t>Guide Name: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lang="en-US" sz="600" b="1" dirty="0">
              <a:latin typeface="Arial Narrow" panose="020B0606020202030204" pitchFamily="34" charset="0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 b="1" dirty="0">
                <a:latin typeface="Arial Narrow" panose="020B0606020202030204" pitchFamily="34" charset="0"/>
                <a:ea typeface="Times New Roman"/>
                <a:cs typeface="Times New Roman"/>
                <a:sym typeface="Times New Roman"/>
              </a:rPr>
              <a:t>Ms. S.UMA MAGESHWARI, M.E., 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 b="1" dirty="0">
                <a:latin typeface="Arial Narrow" panose="020B0606020202030204" pitchFamily="34" charset="0"/>
                <a:ea typeface="Times New Roman"/>
                <a:cs typeface="Times New Roman"/>
                <a:sym typeface="Times New Roman"/>
              </a:rPr>
              <a:t>AP/CSE</a:t>
            </a:r>
            <a:endParaRPr b="1" dirty="0">
              <a:latin typeface="Arial Narrow" panose="020B0606020202030204" pitchFamily="34" charset="0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9" name="Google Shape;99;p2"/>
          <p:cNvSpPr txBox="1">
            <a:spLocks noGrp="1"/>
          </p:cNvSpPr>
          <p:nvPr>
            <p:ph type="body" idx="1"/>
          </p:nvPr>
        </p:nvSpPr>
        <p:spPr>
          <a:xfrm>
            <a:off x="6556664" y="3631450"/>
            <a:ext cx="5442669" cy="272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 b="1" dirty="0">
                <a:latin typeface="Arial Narrow" panose="020B0606020202030204" pitchFamily="34" charset="0"/>
                <a:ea typeface="Times New Roman"/>
                <a:cs typeface="Times New Roman"/>
                <a:sym typeface="Times New Roman"/>
              </a:rPr>
              <a:t>Team Members: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lang="en-US" sz="600" b="1" dirty="0">
              <a:latin typeface="Arial Narrow" panose="020B0606020202030204" pitchFamily="34" charset="0"/>
              <a:ea typeface="Times New Roman"/>
              <a:cs typeface="Times New Roman"/>
              <a:sym typeface="Times New Roman"/>
            </a:endParaRPr>
          </a:p>
          <a:p>
            <a:pPr marL="0" lvl="0" indent="0">
              <a:buSzPts val="2400"/>
              <a:buNone/>
            </a:pPr>
            <a:r>
              <a:rPr lang="en-US" sz="2400" b="1" dirty="0">
                <a:latin typeface="Arial Narrow" panose="020B0606020202030204" pitchFamily="34" charset="0"/>
                <a:ea typeface="Times New Roman"/>
                <a:cs typeface="Times New Roman"/>
                <a:sym typeface="Times New Roman"/>
              </a:rPr>
              <a:t>R.P.KAVIN KIRTHIK (811722104071)</a:t>
            </a:r>
          </a:p>
          <a:p>
            <a:pPr marL="0" lvl="0" indent="0">
              <a:buSzPts val="2400"/>
              <a:buNone/>
            </a:pPr>
            <a:r>
              <a:rPr lang="en-US" sz="2400" b="1" dirty="0">
                <a:latin typeface="Arial Narrow" panose="020B0606020202030204" pitchFamily="34" charset="0"/>
                <a:ea typeface="Times New Roman"/>
                <a:cs typeface="Times New Roman"/>
                <a:sym typeface="Times New Roman"/>
              </a:rPr>
              <a:t>A.K. NIKHAAL AHAMED (811722104101)</a:t>
            </a:r>
          </a:p>
          <a:p>
            <a:pPr marL="0" lvl="0" indent="0">
              <a:buSzPts val="2400"/>
              <a:buNone/>
            </a:pPr>
            <a:r>
              <a:rPr lang="en-US" sz="2400" b="1" dirty="0">
                <a:latin typeface="Arial Narrow" panose="020B0606020202030204" pitchFamily="34" charset="0"/>
                <a:ea typeface="Times New Roman"/>
                <a:cs typeface="Times New Roman"/>
                <a:sym typeface="Times New Roman"/>
              </a:rPr>
              <a:t>P.RAGHUL (811722104116)</a:t>
            </a:r>
            <a:endParaRPr b="1" dirty="0">
              <a:latin typeface="Arial Narrow" panose="020B0606020202030204" pitchFamily="34" charset="0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"/>
          <p:cNvSpPr txBox="1">
            <a:spLocks noGrp="1"/>
          </p:cNvSpPr>
          <p:nvPr>
            <p:ph type="title"/>
          </p:nvPr>
        </p:nvSpPr>
        <p:spPr>
          <a:xfrm>
            <a:off x="838200" y="0"/>
            <a:ext cx="10515600" cy="9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 sz="4000" b="1" dirty="0">
                <a:latin typeface="Arial Narrow"/>
                <a:ea typeface="Arial Narrow"/>
                <a:cs typeface="Arial Narrow"/>
                <a:sym typeface="Arial Narrow"/>
              </a:rPr>
              <a:t>OBJECTIVE OF THE PROJECT</a:t>
            </a:r>
            <a:endParaRPr sz="4000" dirty="0"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05" name="Google Shape;105;p3"/>
          <p:cNvSpPr txBox="1">
            <a:spLocks noGrp="1"/>
          </p:cNvSpPr>
          <p:nvPr>
            <p:ph type="body" idx="1"/>
          </p:nvPr>
        </p:nvSpPr>
        <p:spPr>
          <a:xfrm>
            <a:off x="1344237" y="1537296"/>
            <a:ext cx="9503525" cy="4469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628650" indent="-514350">
              <a:lnSpc>
                <a:spcPct val="100000"/>
              </a:lnSpc>
              <a:buFont typeface="+mj-lt"/>
              <a:buAutoNum type="arabicPeriod"/>
            </a:pPr>
            <a:r>
              <a:rPr lang="en-GB" sz="2400" dirty="0">
                <a:solidFill>
                  <a:schemeClr val="tx1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Develop a system to automatically summarise YouTube videos using NLP.</a:t>
            </a:r>
          </a:p>
          <a:p>
            <a:pPr marL="628650" indent="-514350">
              <a:lnSpc>
                <a:spcPct val="100000"/>
              </a:lnSpc>
              <a:buFont typeface="+mj-lt"/>
              <a:buAutoNum type="arabicPeriod"/>
            </a:pPr>
            <a:r>
              <a:rPr lang="en-GB" sz="2400" dirty="0">
                <a:solidFill>
                  <a:schemeClr val="tx1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Enhance accessibility and content navigation by providing concise summaries.</a:t>
            </a:r>
          </a:p>
          <a:p>
            <a:pPr marL="628650" indent="-514350">
              <a:lnSpc>
                <a:spcPct val="100000"/>
              </a:lnSpc>
              <a:buFont typeface="+mj-lt"/>
              <a:buAutoNum type="arabicPeriod"/>
            </a:pPr>
            <a:r>
              <a:rPr lang="en-GB" sz="2400" dirty="0">
                <a:solidFill>
                  <a:schemeClr val="tx1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Compare extractive and abstractive summarisation techniques for accuracy.</a:t>
            </a:r>
          </a:p>
          <a:p>
            <a:pPr marL="114300" indent="0">
              <a:lnSpc>
                <a:spcPct val="100000"/>
              </a:lnSpc>
              <a:buNone/>
            </a:pPr>
            <a:br>
              <a:rPr lang="en-GB" sz="2400" dirty="0">
                <a:latin typeface="Arial Narrow" panose="020B0606020202030204" pitchFamily="34" charset="0"/>
              </a:rPr>
            </a:br>
            <a:endParaRPr sz="2400" dirty="0">
              <a:latin typeface="Arial Narrow" panose="020B0606020202030204" pitchFamily="34" charset="0"/>
              <a:ea typeface="Arial Narrow"/>
              <a:cs typeface="Arial Narrow"/>
              <a:sym typeface="Arial Narrow"/>
            </a:endParaRPr>
          </a:p>
        </p:txBody>
      </p:sp>
      <p:sp>
        <p:nvSpPr>
          <p:cNvPr id="106" name="Google Shape;106;p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b="1">
                <a:solidFill>
                  <a:schemeClr val="dk1"/>
                </a:solidFill>
                <a:latin typeface="Arial Narrow" panose="020B0606020202030204" pitchFamily="34" charset="0"/>
              </a:rPr>
              <a:t>3</a:t>
            </a:fld>
            <a:endParaRPr b="1" dirty="0">
              <a:solidFill>
                <a:schemeClr val="dk1"/>
              </a:solidFill>
              <a:latin typeface="Arial Narrow" panose="020B060602020203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"/>
          <p:cNvSpPr txBox="1">
            <a:spLocks noGrp="1"/>
          </p:cNvSpPr>
          <p:nvPr>
            <p:ph type="title"/>
          </p:nvPr>
        </p:nvSpPr>
        <p:spPr>
          <a:xfrm>
            <a:off x="0" y="0"/>
            <a:ext cx="12192000" cy="81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 sz="4000" b="1" dirty="0">
                <a:latin typeface="Arial Narrow"/>
                <a:ea typeface="Arial Narrow"/>
                <a:cs typeface="Arial Narrow"/>
                <a:sym typeface="Arial Narrow"/>
              </a:rPr>
              <a:t>INTRODUCTION</a:t>
            </a:r>
            <a:endParaRPr sz="4000" dirty="0"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12" name="Google Shape;112;p4"/>
          <p:cNvSpPr txBox="1">
            <a:spLocks noGrp="1"/>
          </p:cNvSpPr>
          <p:nvPr>
            <p:ph type="body" idx="1"/>
          </p:nvPr>
        </p:nvSpPr>
        <p:spPr>
          <a:xfrm>
            <a:off x="838200" y="1560154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628650" indent="-514350">
              <a:lnSpc>
                <a:spcPct val="100000"/>
              </a:lnSpc>
              <a:buFont typeface="+mj-lt"/>
              <a:buAutoNum type="arabicPeriod"/>
            </a:pPr>
            <a:r>
              <a:rPr lang="en-IN" sz="2400" dirty="0">
                <a:latin typeface="Arial Narrow" panose="020B0606020202030204" pitchFamily="34" charset="0"/>
                <a:cs typeface="Times New Roman" panose="02020603050405020304" pitchFamily="18" charset="0"/>
              </a:rPr>
              <a:t>Over 500 hours of video are uploaded to YouTube every minute.</a:t>
            </a:r>
          </a:p>
          <a:p>
            <a:pPr marL="628650" indent="-514350">
              <a:lnSpc>
                <a:spcPct val="100000"/>
              </a:lnSpc>
              <a:buFont typeface="+mj-lt"/>
              <a:buAutoNum type="arabicPeriod"/>
            </a:pPr>
            <a:r>
              <a:rPr lang="en-IN" sz="2400" dirty="0">
                <a:latin typeface="Arial Narrow" panose="020B0606020202030204" pitchFamily="34" charset="0"/>
                <a:cs typeface="Times New Roman" panose="02020603050405020304" pitchFamily="18" charset="0"/>
              </a:rPr>
              <a:t>Manual content browsing is time‑consuming.</a:t>
            </a:r>
          </a:p>
          <a:p>
            <a:pPr marL="628650" indent="-514350">
              <a:lnSpc>
                <a:spcPct val="100000"/>
              </a:lnSpc>
              <a:buFont typeface="+mj-lt"/>
              <a:buAutoNum type="arabicPeriod"/>
            </a:pPr>
            <a:r>
              <a:rPr lang="en-IN" sz="2400" dirty="0">
                <a:latin typeface="Arial Narrow" panose="020B0606020202030204" pitchFamily="34" charset="0"/>
                <a:cs typeface="Times New Roman" panose="02020603050405020304" pitchFamily="18" charset="0"/>
              </a:rPr>
              <a:t>Automated summarisation can help users quickly grasp video content.</a:t>
            </a:r>
          </a:p>
          <a:p>
            <a:pPr marL="628650" indent="-514350">
              <a:lnSpc>
                <a:spcPct val="100000"/>
              </a:lnSpc>
              <a:buFont typeface="+mj-lt"/>
              <a:buAutoNum type="arabicPeriod"/>
            </a:pPr>
            <a:r>
              <a:rPr lang="en-IN" sz="2400" dirty="0">
                <a:latin typeface="Arial Narrow" panose="020B0606020202030204" pitchFamily="34" charset="0"/>
                <a:cs typeface="Times New Roman" panose="02020603050405020304" pitchFamily="18" charset="0"/>
              </a:rPr>
              <a:t>NLP processes transcripts, captions, and metadata to generate summaries.</a:t>
            </a:r>
          </a:p>
          <a:p>
            <a:pPr marL="628650" indent="-514350">
              <a:lnSpc>
                <a:spcPct val="100000"/>
              </a:lnSpc>
              <a:buFont typeface="+mj-lt"/>
              <a:buAutoNum type="arabicPeriod"/>
            </a:pPr>
            <a:r>
              <a:rPr lang="en-IN" sz="2400" dirty="0">
                <a:latin typeface="Arial Narrow" panose="020B0606020202030204" pitchFamily="34" charset="0"/>
                <a:cs typeface="Times New Roman" panose="02020603050405020304" pitchFamily="18" charset="0"/>
              </a:rPr>
              <a:t>Aim: Build a robust and accurate video summarisation system.</a:t>
            </a:r>
          </a:p>
        </p:txBody>
      </p:sp>
      <p:sp>
        <p:nvSpPr>
          <p:cNvPr id="113" name="Google Shape;113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b="1">
                <a:solidFill>
                  <a:schemeClr val="dk1"/>
                </a:solidFill>
                <a:latin typeface="Arial Narrow" panose="020B0606020202030204" pitchFamily="34" charset="0"/>
              </a:rPr>
              <a:t>4</a:t>
            </a:fld>
            <a:endParaRPr b="1" dirty="0">
              <a:solidFill>
                <a:schemeClr val="dk1"/>
              </a:solidFill>
              <a:latin typeface="Arial Narrow" panose="020B060602020203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5"/>
          <p:cNvSpPr/>
          <p:nvPr/>
        </p:nvSpPr>
        <p:spPr>
          <a:xfrm>
            <a:off x="8753993" y="62420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b="1">
                <a:solidFill>
                  <a:schemeClr val="dk1"/>
                </a:solidFill>
                <a:latin typeface="Arial Narrow" panose="020B0606020202030204" pitchFamily="34" charset="0"/>
              </a:rPr>
              <a:t>5</a:t>
            </a:fld>
            <a:endParaRPr b="1" dirty="0">
              <a:solidFill>
                <a:schemeClr val="dk1"/>
              </a:solidFill>
              <a:latin typeface="Arial Narrow" panose="020B0606020202030204" pitchFamily="34" charset="0"/>
            </a:endParaRPr>
          </a:p>
        </p:txBody>
      </p:sp>
      <p:sp>
        <p:nvSpPr>
          <p:cNvPr id="120" name="Google Shape;120;p5"/>
          <p:cNvSpPr/>
          <p:nvPr/>
        </p:nvSpPr>
        <p:spPr>
          <a:xfrm>
            <a:off x="68855" y="0"/>
            <a:ext cx="12054300" cy="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dirty="0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LITERATURE SURVEY</a:t>
            </a:r>
            <a:endParaRPr dirty="0">
              <a:latin typeface="Arial Narrow"/>
              <a:ea typeface="Arial Narrow"/>
              <a:cs typeface="Arial Narrow"/>
              <a:sym typeface="Arial Narrow"/>
            </a:endParaRPr>
          </a:p>
        </p:txBody>
      </p:sp>
      <p:graphicFrame>
        <p:nvGraphicFramePr>
          <p:cNvPr id="121" name="Google Shape;121;p5"/>
          <p:cNvGraphicFramePr/>
          <p:nvPr>
            <p:extLst>
              <p:ext uri="{D42A27DB-BD31-4B8C-83A1-F6EECF244321}">
                <p14:modId xmlns:p14="http://schemas.microsoft.com/office/powerpoint/2010/main" val="456724681"/>
              </p:ext>
            </p:extLst>
          </p:nvPr>
        </p:nvGraphicFramePr>
        <p:xfrm>
          <a:off x="115636" y="752229"/>
          <a:ext cx="11960728" cy="5204149"/>
        </p:xfrm>
        <a:graphic>
          <a:graphicData uri="http://schemas.openxmlformats.org/drawingml/2006/table">
            <a:tbl>
              <a:tblPr firstRow="1" bandRow="1">
                <a:noFill/>
                <a:tableStyleId>{3CDD818E-ADFA-4579-856F-A3140DA02BD1}</a:tableStyleId>
              </a:tblPr>
              <a:tblGrid>
                <a:gridCol w="295115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995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522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577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74961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 dirty="0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Arial Narrow"/>
                          <a:cs typeface="Arial Narrow"/>
                          <a:sym typeface="Arial Narrow"/>
                        </a:rPr>
                        <a:t>TITLE</a:t>
                      </a: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dirty="0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Arial Narrow"/>
                          <a:cs typeface="Arial Narrow"/>
                          <a:sym typeface="Arial Narrow"/>
                        </a:rPr>
                        <a:t>AUTHORS</a:t>
                      </a:r>
                      <a:endParaRPr lang="en-US" sz="2400" u="none" strike="noStrike" cap="none" dirty="0">
                        <a:solidFill>
                          <a:schemeClr val="dk1"/>
                        </a:solidFill>
                        <a:latin typeface="Arial Narrow" panose="020B0606020202030204" pitchFamily="34" charset="0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Arial Narrow"/>
                          <a:cs typeface="Arial Narrow"/>
                          <a:sym typeface="Arial Narrow"/>
                        </a:rPr>
                        <a:t>PUBLISHER</a:t>
                      </a: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Arial Narrow"/>
                          <a:cs typeface="Arial Narrow"/>
                          <a:sym typeface="Arial Narrow"/>
                        </a:rPr>
                        <a:t>TECHNOLOGY USED</a:t>
                      </a: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5817">
                <a:tc>
                  <a:txBody>
                    <a:bodyPr/>
                    <a:lstStyle/>
                    <a:p>
                      <a:pPr algn="l" fontAlgn="base" latinLnBrk="0"/>
                      <a:r>
                        <a:rPr lang="en-GB" sz="1600" dirty="0">
                          <a:effectLst/>
                          <a:latin typeface="Arial Narrow" panose="020B0606020202030204" pitchFamily="34" charset="0"/>
                        </a:rPr>
                        <a:t>Method of Text Summarization using LSA and BERT</a:t>
                      </a:r>
                    </a:p>
                  </a:txBody>
                  <a:tcPr marL="60960" marR="60960" anchor="ctr"/>
                </a:tc>
                <a:tc>
                  <a:txBody>
                    <a:bodyPr/>
                    <a:lstStyle/>
                    <a:p>
                      <a:pPr algn="l" fontAlgn="base" latinLnBrk="0"/>
                      <a:r>
                        <a:rPr lang="en-IN" sz="1600" dirty="0">
                          <a:latin typeface="Arial Narrow" panose="020B0606020202030204" pitchFamily="34" charset="0"/>
                        </a:rPr>
                        <a:t>Hritvik Gupta &amp; Mayank Patel</a:t>
                      </a:r>
                      <a:endParaRPr lang="en-IN" sz="1600" dirty="0"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60960" marR="6096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600" dirty="0">
                          <a:latin typeface="Arial Narrow" panose="020B0606020202030204" pitchFamily="34" charset="0"/>
                        </a:rPr>
                        <a:t>IEEE ICAIS 2021 (International AI Conference)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ase" latinLnBrk="0"/>
                      <a:r>
                        <a:rPr lang="en-IN" sz="1600" dirty="0">
                          <a:latin typeface="Arial Narrow" panose="020B0606020202030204" pitchFamily="34" charset="0"/>
                        </a:rPr>
                        <a:t>LSA, TF-IDF, BERT</a:t>
                      </a:r>
                      <a:endParaRPr lang="en-IN" sz="1600" dirty="0"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60960" marR="6096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5817">
                <a:tc>
                  <a:txBody>
                    <a:bodyPr/>
                    <a:lstStyle/>
                    <a:p>
                      <a:pPr algn="l" fontAlgn="base" latinLnBrk="0"/>
                      <a:r>
                        <a:rPr lang="en-GB" sz="1600">
                          <a:effectLst/>
                          <a:latin typeface="Arial Narrow" panose="020B0606020202030204" pitchFamily="34" charset="0"/>
                        </a:rPr>
                        <a:t>Extractive Automatic Text Summarization using SpaCy</a:t>
                      </a:r>
                      <a:endParaRPr lang="en-GB" sz="1600" dirty="0"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60960" marR="60960" anchor="ctr"/>
                </a:tc>
                <a:tc>
                  <a:txBody>
                    <a:bodyPr/>
                    <a:lstStyle/>
                    <a:p>
                      <a:pPr algn="l" fontAlgn="base" latinLnBrk="0"/>
                      <a:r>
                        <a:rPr lang="en-IN" sz="1600" dirty="0" err="1">
                          <a:latin typeface="Arial Narrow" panose="020B0606020202030204" pitchFamily="34" charset="0"/>
                        </a:rPr>
                        <a:t>Swaranjali</a:t>
                      </a:r>
                      <a:r>
                        <a:rPr lang="en-IN" sz="1600" dirty="0">
                          <a:latin typeface="Arial Narrow" panose="020B0606020202030204" pitchFamily="34" charset="0"/>
                        </a:rPr>
                        <a:t> </a:t>
                      </a:r>
                      <a:r>
                        <a:rPr lang="en-IN" sz="1600" dirty="0" err="1">
                          <a:latin typeface="Arial Narrow" panose="020B0606020202030204" pitchFamily="34" charset="0"/>
                        </a:rPr>
                        <a:t>Jugran</a:t>
                      </a:r>
                      <a:r>
                        <a:rPr lang="en-IN" sz="1600" dirty="0">
                          <a:latin typeface="Arial Narrow" panose="020B0606020202030204" pitchFamily="34" charset="0"/>
                        </a:rPr>
                        <a:t>, Ashish Kumar, Bhupendra S. Tyagi, Vivek Anand</a:t>
                      </a:r>
                      <a:endParaRPr lang="en-IN" sz="1600" dirty="0"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60960" marR="60960" anchor="ctr"/>
                </a:tc>
                <a:tc>
                  <a:txBody>
                    <a:bodyPr/>
                    <a:lstStyle/>
                    <a:p>
                      <a:pPr algn="l" fontAlgn="base" latinLnBrk="0"/>
                      <a:r>
                        <a:rPr lang="en-IN" sz="1600" dirty="0">
                          <a:latin typeface="Arial Narrow" panose="020B0606020202030204" pitchFamily="34" charset="0"/>
                        </a:rPr>
                        <a:t>ICACITE 2021 (IEEE International Conference)</a:t>
                      </a:r>
                      <a:endParaRPr lang="en-IN" sz="1600" dirty="0"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60960" marR="60960" anchor="ctr"/>
                </a:tc>
                <a:tc>
                  <a:txBody>
                    <a:bodyPr/>
                    <a:lstStyle/>
                    <a:p>
                      <a:pPr algn="l" fontAlgn="base" latinLnBrk="0"/>
                      <a:r>
                        <a:rPr lang="en-IN" sz="1600" dirty="0" err="1">
                          <a:latin typeface="Arial Narrow" panose="020B0606020202030204" pitchFamily="34" charset="0"/>
                        </a:rPr>
                        <a:t>SpaCy</a:t>
                      </a:r>
                      <a:r>
                        <a:rPr lang="en-IN" sz="1600" dirty="0">
                          <a:latin typeface="Arial Narrow" panose="020B0606020202030204" pitchFamily="34" charset="0"/>
                        </a:rPr>
                        <a:t>, Python NLP (extractive)</a:t>
                      </a:r>
                      <a:endParaRPr lang="en-IN" sz="1600" dirty="0"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60960" marR="6096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5817">
                <a:tc>
                  <a:txBody>
                    <a:bodyPr/>
                    <a:lstStyle/>
                    <a:p>
                      <a:pPr algn="l" fontAlgn="base" latinLnBrk="0"/>
                      <a:r>
                        <a:rPr lang="en-GB" sz="1600" dirty="0" err="1">
                          <a:latin typeface="Arial Narrow" panose="020B0606020202030204" pitchFamily="34" charset="0"/>
                        </a:rPr>
                        <a:t>ASoVS</a:t>
                      </a:r>
                      <a:r>
                        <a:rPr lang="en-GB" sz="1600" dirty="0">
                          <a:latin typeface="Arial Narrow" panose="020B0606020202030204" pitchFamily="34" charset="0"/>
                        </a:rPr>
                        <a:t>: Abstractive Summarization of Video Sequences</a:t>
                      </a:r>
                      <a:endParaRPr lang="en-GB" sz="1600" dirty="0"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60960" marR="60960" anchor="ctr"/>
                </a:tc>
                <a:tc>
                  <a:txBody>
                    <a:bodyPr/>
                    <a:lstStyle/>
                    <a:p>
                      <a:pPr algn="l" fontAlgn="base" latinLnBrk="0"/>
                      <a:r>
                        <a:rPr lang="en-IN" sz="1600" dirty="0">
                          <a:latin typeface="Arial Narrow" panose="020B0606020202030204" pitchFamily="34" charset="0"/>
                        </a:rPr>
                        <a:t>Aniqa </a:t>
                      </a:r>
                      <a:r>
                        <a:rPr lang="en-IN" sz="1600" dirty="0" err="1">
                          <a:latin typeface="Arial Narrow" panose="020B0606020202030204" pitchFamily="34" charset="0"/>
                        </a:rPr>
                        <a:t>Dilawari</a:t>
                      </a:r>
                      <a:r>
                        <a:rPr lang="en-IN" sz="1600" dirty="0">
                          <a:latin typeface="Arial Narrow" panose="020B0606020202030204" pitchFamily="34" charset="0"/>
                        </a:rPr>
                        <a:t>; Muhammad Usman Ghani Khan</a:t>
                      </a:r>
                      <a:endParaRPr lang="en-IN" sz="1600" dirty="0"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60960" marR="60960" anchor="ctr"/>
                </a:tc>
                <a:tc>
                  <a:txBody>
                    <a:bodyPr/>
                    <a:lstStyle/>
                    <a:p>
                      <a:pPr algn="l" fontAlgn="base" latinLnBrk="0"/>
                      <a:r>
                        <a:rPr lang="en-GB" sz="1600" dirty="0">
                          <a:latin typeface="Arial Narrow" panose="020B0606020202030204" pitchFamily="34" charset="0"/>
                        </a:rPr>
                        <a:t>EEE Access 7 (2019): 29253–29263</a:t>
                      </a:r>
                      <a:endParaRPr lang="en-IN" sz="1600" dirty="0"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60960" marR="60960" anchor="ctr"/>
                </a:tc>
                <a:tc>
                  <a:txBody>
                    <a:bodyPr/>
                    <a:lstStyle/>
                    <a:p>
                      <a:pPr algn="l" fontAlgn="base" latinLnBrk="0"/>
                      <a:r>
                        <a:rPr lang="en-IN" sz="1600" dirty="0">
                          <a:effectLst/>
                          <a:latin typeface="Arial Narrow" panose="020B0606020202030204" pitchFamily="34" charset="0"/>
                        </a:rPr>
                        <a:t>Deep Neural Networks</a:t>
                      </a:r>
                    </a:p>
                  </a:txBody>
                  <a:tcPr marL="60960" marR="6096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95817">
                <a:tc>
                  <a:txBody>
                    <a:bodyPr/>
                    <a:lstStyle/>
                    <a:p>
                      <a:pPr algn="l" fontAlgn="base" latinLnBrk="0"/>
                      <a:r>
                        <a:rPr lang="en-IN" sz="1600" dirty="0">
                          <a:effectLst/>
                          <a:latin typeface="Arial Narrow" panose="020B0606020202030204" pitchFamily="34" charset="0"/>
                        </a:rPr>
                        <a:t>Fully Convolutional Sequence Networks</a:t>
                      </a:r>
                    </a:p>
                  </a:txBody>
                  <a:tcPr marL="60960" marR="60960" anchor="ctr"/>
                </a:tc>
                <a:tc>
                  <a:txBody>
                    <a:bodyPr/>
                    <a:lstStyle/>
                    <a:p>
                      <a:pPr algn="l" fontAlgn="base" latinLnBrk="0"/>
                      <a:r>
                        <a:rPr lang="de-DE" sz="1600" dirty="0">
                          <a:latin typeface="Arial Narrow" panose="020B0606020202030204" pitchFamily="34" charset="0"/>
                        </a:rPr>
                        <a:t>Mrigank Rochan; Linwei Ye; Yang Wang</a:t>
                      </a:r>
                      <a:r>
                        <a:rPr lang="en-IN" sz="1600" dirty="0">
                          <a:effectLst/>
                          <a:latin typeface="Arial Narrow" panose="020B0606020202030204" pitchFamily="34" charset="0"/>
                        </a:rPr>
                        <a:t>.</a:t>
                      </a:r>
                    </a:p>
                  </a:txBody>
                  <a:tcPr marL="60960" marR="60960" anchor="ctr"/>
                </a:tc>
                <a:tc>
                  <a:txBody>
                    <a:bodyPr/>
                    <a:lstStyle/>
                    <a:p>
                      <a:pPr algn="l" fontAlgn="base" latinLnBrk="0"/>
                      <a:r>
                        <a:rPr lang="en-IN" sz="1600" dirty="0">
                          <a:latin typeface="Arial Narrow" panose="020B0606020202030204" pitchFamily="34" charset="0"/>
                        </a:rPr>
                        <a:t>ECCV (2018): 347–363</a:t>
                      </a:r>
                      <a:endParaRPr lang="en-IN" sz="1600" dirty="0"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60960" marR="60960" anchor="ctr"/>
                </a:tc>
                <a:tc>
                  <a:txBody>
                    <a:bodyPr/>
                    <a:lstStyle/>
                    <a:p>
                      <a:pPr algn="l" fontAlgn="base" latinLnBrk="0"/>
                      <a:r>
                        <a:rPr lang="en-IN" sz="1600" dirty="0">
                          <a:effectLst/>
                          <a:latin typeface="Arial Narrow" panose="020B0606020202030204" pitchFamily="34" charset="0"/>
                        </a:rPr>
                        <a:t>CNN‑based Seq. Models</a:t>
                      </a:r>
                    </a:p>
                  </a:txBody>
                  <a:tcPr marL="60960" marR="6096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95817">
                <a:tc>
                  <a:txBody>
                    <a:bodyPr/>
                    <a:lstStyle/>
                    <a:p>
                      <a:pPr algn="l" fontAlgn="base" latinLnBrk="0"/>
                      <a:r>
                        <a:rPr lang="en-GB" sz="1600" dirty="0">
                          <a:latin typeface="Arial Narrow" panose="020B0606020202030204" pitchFamily="34" charset="0"/>
                        </a:rPr>
                        <a:t>Unsupervised Video Summarization with Adversarial LSTM Networks (SUM-GAN)</a:t>
                      </a:r>
                      <a:endParaRPr lang="en-GB" sz="1600" dirty="0"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60960" marR="6096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600" dirty="0">
                          <a:latin typeface="Arial Narrow" panose="020B0606020202030204" pitchFamily="34" charset="0"/>
                        </a:rPr>
                        <a:t>Behrooz </a:t>
                      </a:r>
                      <a:r>
                        <a:rPr lang="en-IN" sz="1600" dirty="0" err="1">
                          <a:latin typeface="Arial Narrow" panose="020B0606020202030204" pitchFamily="34" charset="0"/>
                        </a:rPr>
                        <a:t>Mahasseni</a:t>
                      </a:r>
                      <a:r>
                        <a:rPr lang="en-IN" sz="1600" dirty="0">
                          <a:latin typeface="Arial Narrow" panose="020B0606020202030204" pitchFamily="34" charset="0"/>
                        </a:rPr>
                        <a:t>; Michael Lam; Sinisa Todorovic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ase" latinLnBrk="0"/>
                      <a:r>
                        <a:rPr lang="en-IN" sz="1600">
                          <a:effectLst/>
                          <a:latin typeface="Arial Narrow" panose="020B0606020202030204" pitchFamily="34" charset="0"/>
                        </a:rPr>
                        <a:t>CVPR 2017</a:t>
                      </a:r>
                    </a:p>
                  </a:txBody>
                  <a:tcPr marL="60960" marR="60960" anchor="ctr"/>
                </a:tc>
                <a:tc>
                  <a:txBody>
                    <a:bodyPr/>
                    <a:lstStyle/>
                    <a:p>
                      <a:pPr algn="l" fontAlgn="base" latinLnBrk="0"/>
                      <a:r>
                        <a:rPr lang="en-IN" sz="1600" dirty="0">
                          <a:latin typeface="Arial Narrow" panose="020B0606020202030204" pitchFamily="34" charset="0"/>
                        </a:rPr>
                        <a:t>GAN framework: LSTM summarizer + LSTM discriminator (unsupervised). </a:t>
                      </a:r>
                      <a:endParaRPr lang="en-IN" sz="1600" dirty="0"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60960" marR="6096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95817">
                <a:tc>
                  <a:txBody>
                    <a:bodyPr/>
                    <a:lstStyle/>
                    <a:p>
                      <a:pPr algn="l" fontAlgn="base" latinLnBrk="0"/>
                      <a:r>
                        <a:rPr lang="en-GB" sz="1600">
                          <a:effectLst/>
                          <a:latin typeface="Arial Narrow" panose="020B0606020202030204" pitchFamily="34" charset="0"/>
                        </a:rPr>
                        <a:t>Deep RL for Unsupervised Video Summarization</a:t>
                      </a:r>
                    </a:p>
                  </a:txBody>
                  <a:tcPr marL="60960" marR="60960" anchor="ctr"/>
                </a:tc>
                <a:tc>
                  <a:txBody>
                    <a:bodyPr/>
                    <a:lstStyle/>
                    <a:p>
                      <a:pPr algn="l" fontAlgn="base" latinLnBrk="0"/>
                      <a:r>
                        <a:rPr lang="en-IN" sz="1600" dirty="0" err="1">
                          <a:latin typeface="Arial Narrow" panose="020B0606020202030204" pitchFamily="34" charset="0"/>
                        </a:rPr>
                        <a:t>Kaiyang</a:t>
                      </a:r>
                      <a:r>
                        <a:rPr lang="en-IN" sz="1600" dirty="0">
                          <a:latin typeface="Arial Narrow" panose="020B0606020202030204" pitchFamily="34" charset="0"/>
                        </a:rPr>
                        <a:t> Zhou; Yu Qiao; Tao Xiang</a:t>
                      </a:r>
                      <a:endParaRPr lang="en-IN" sz="1600" dirty="0"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60960" marR="60960" anchor="ctr"/>
                </a:tc>
                <a:tc>
                  <a:txBody>
                    <a:bodyPr/>
                    <a:lstStyle/>
                    <a:p>
                      <a:pPr algn="l" fontAlgn="base" latinLnBrk="0"/>
                      <a:r>
                        <a:rPr lang="en-IN" sz="1600" dirty="0">
                          <a:latin typeface="Arial Narrow" panose="020B0606020202030204" pitchFamily="34" charset="0"/>
                        </a:rPr>
                        <a:t>AAAI (2018)</a:t>
                      </a:r>
                      <a:endParaRPr lang="en-IN" sz="1600" dirty="0"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60960" marR="60960" anchor="ctr"/>
                </a:tc>
                <a:tc>
                  <a:txBody>
                    <a:bodyPr/>
                    <a:lstStyle/>
                    <a:p>
                      <a:pPr algn="l" fontAlgn="base" latinLnBrk="0"/>
                      <a:r>
                        <a:rPr lang="en-GB" sz="1600" dirty="0" err="1">
                          <a:latin typeface="Arial Narrow" panose="020B0606020202030204" pitchFamily="34" charset="0"/>
                        </a:rPr>
                        <a:t>BiRNN</a:t>
                      </a:r>
                      <a:r>
                        <a:rPr lang="en-GB" sz="1600" dirty="0">
                          <a:latin typeface="Arial Narrow" panose="020B0606020202030204" pitchFamily="34" charset="0"/>
                        </a:rPr>
                        <a:t>/DSN trained with reinforcement learning using DR reward (unsupervised)</a:t>
                      </a:r>
                      <a:endParaRPr lang="en-IN" sz="1600" dirty="0"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60960" marR="6096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b="1">
                <a:solidFill>
                  <a:schemeClr val="dk1"/>
                </a:solidFill>
                <a:latin typeface="Arial Narrow" panose="020B0606020202030204" pitchFamily="34" charset="0"/>
              </a:rPr>
              <a:t>6</a:t>
            </a:fld>
            <a:endParaRPr b="1" dirty="0">
              <a:solidFill>
                <a:schemeClr val="dk1"/>
              </a:solidFill>
              <a:latin typeface="Arial Narrow" panose="020B0606020202030204" pitchFamily="34" charset="0"/>
            </a:endParaRPr>
          </a:p>
        </p:txBody>
      </p:sp>
      <p:sp>
        <p:nvSpPr>
          <p:cNvPr id="127" name="Google Shape;127;p6"/>
          <p:cNvSpPr txBox="1"/>
          <p:nvPr/>
        </p:nvSpPr>
        <p:spPr>
          <a:xfrm>
            <a:off x="-84420" y="26072"/>
            <a:ext cx="12345600" cy="707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/>
            <a:r>
              <a:rPr lang="en-US" sz="4000" b="1" dirty="0">
                <a:latin typeface="Arial Narrow" panose="020B0606020202030204" pitchFamily="34" charset="0"/>
                <a:sym typeface="Arial Narrow"/>
              </a:rPr>
              <a:t>EXISTING SYSTEM </a:t>
            </a:r>
            <a:r>
              <a:rPr lang="en-US" sz="4000" b="1" dirty="0">
                <a:latin typeface="Arial Narrow" panose="020B0606020202030204" pitchFamily="34" charset="0"/>
              </a:rPr>
              <a:t>ARCHITECTURE</a:t>
            </a:r>
            <a:endParaRPr lang="en-US" sz="4000" b="1" dirty="0">
              <a:latin typeface="Arial Narrow" panose="020B0606020202030204" pitchFamily="34" charset="0"/>
              <a:sym typeface="Arial Narrow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DB0A693-6342-4779-7492-9B5B862000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608175"/>
            <a:ext cx="2069293" cy="1206145"/>
          </a:xfrm>
          <a:prstGeom prst="rect">
            <a:avLst/>
          </a:prstGeom>
        </p:spPr>
      </p:pic>
      <p:pic>
        <p:nvPicPr>
          <p:cNvPr id="5124" name="Picture 4" descr="Natural language processing Special Lineal color icon">
            <a:extLst>
              <a:ext uri="{FF2B5EF4-FFF2-40B4-BE49-F238E27FC236}">
                <a16:creationId xmlns:a16="http://schemas.microsoft.com/office/drawing/2014/main" id="{666A2EB3-57ED-0AB9-1183-88E54605AE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29786" y="1608175"/>
            <a:ext cx="1371600" cy="1371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6" name="Picture 6" descr="Data, extraction, extracting, processing, engineering, transform icon ...">
            <a:extLst>
              <a:ext uri="{FF2B5EF4-FFF2-40B4-BE49-F238E27FC236}">
                <a16:creationId xmlns:a16="http://schemas.microsoft.com/office/drawing/2014/main" id="{B440E469-ED7E-66AB-F482-789546FA34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23679" y="1520948"/>
            <a:ext cx="1546053" cy="15460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8" name="Picture 8" descr="Text, generation, text generation, content generation, creative writing ...">
            <a:extLst>
              <a:ext uri="{FF2B5EF4-FFF2-40B4-BE49-F238E27FC236}">
                <a16:creationId xmlns:a16="http://schemas.microsoft.com/office/drawing/2014/main" id="{59D33AB1-5B27-CAD3-430A-9B0B4DA461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36306" y="4168455"/>
            <a:ext cx="1720800" cy="1720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30" name="Picture 10" descr="AI Text Generation vector Artificial Intelligence Generator colored ...">
            <a:extLst>
              <a:ext uri="{FF2B5EF4-FFF2-40B4-BE49-F238E27FC236}">
                <a16:creationId xmlns:a16="http://schemas.microsoft.com/office/drawing/2014/main" id="{50A0EE06-3716-2B44-FB83-ED551A1ACC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59960" y="3867962"/>
            <a:ext cx="2286000" cy="228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DFEE9A30-A716-E3AE-7587-81063A9FF33A}"/>
              </a:ext>
            </a:extLst>
          </p:cNvPr>
          <p:cNvCxnSpPr>
            <a:stCxn id="4" idx="3"/>
          </p:cNvCxnSpPr>
          <p:nvPr/>
        </p:nvCxnSpPr>
        <p:spPr>
          <a:xfrm flipV="1">
            <a:off x="2907493" y="2206748"/>
            <a:ext cx="2335067" cy="45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24BC586F-25BA-9A00-E75F-5FF259F959BF}"/>
              </a:ext>
            </a:extLst>
          </p:cNvPr>
          <p:cNvCxnSpPr>
            <a:stCxn id="5124" idx="3"/>
            <a:endCxn id="5126" idx="1"/>
          </p:cNvCxnSpPr>
          <p:nvPr/>
        </p:nvCxnSpPr>
        <p:spPr>
          <a:xfrm>
            <a:off x="6701386" y="2293975"/>
            <a:ext cx="242229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520CDEF7-071A-27A3-971A-775F2A5C91B9}"/>
              </a:ext>
            </a:extLst>
          </p:cNvPr>
          <p:cNvCxnSpPr>
            <a:cxnSpLocks/>
          </p:cNvCxnSpPr>
          <p:nvPr/>
        </p:nvCxnSpPr>
        <p:spPr>
          <a:xfrm>
            <a:off x="9799526" y="3785420"/>
            <a:ext cx="0" cy="5993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C7DB7103-A7E0-C7D7-3093-0541D9133E61}"/>
              </a:ext>
            </a:extLst>
          </p:cNvPr>
          <p:cNvCxnSpPr>
            <a:stCxn id="5128" idx="1"/>
            <a:endCxn id="5130" idx="3"/>
          </p:cNvCxnSpPr>
          <p:nvPr/>
        </p:nvCxnSpPr>
        <p:spPr>
          <a:xfrm flipH="1" flipV="1">
            <a:off x="7045960" y="5010962"/>
            <a:ext cx="1990346" cy="1789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A17AEC2F-7032-3811-E2F7-EF46BE15F297}"/>
              </a:ext>
            </a:extLst>
          </p:cNvPr>
          <p:cNvSpPr/>
          <p:nvPr/>
        </p:nvSpPr>
        <p:spPr>
          <a:xfrm>
            <a:off x="915266" y="3219401"/>
            <a:ext cx="1915159" cy="255319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Arial Narrow" panose="020B0606020202030204" pitchFamily="34" charset="0"/>
              </a:rPr>
              <a:t>VIDEO INPUT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BB776C7-F017-D2EC-1308-E52F81FA7E9D}"/>
              </a:ext>
            </a:extLst>
          </p:cNvPr>
          <p:cNvSpPr/>
          <p:nvPr/>
        </p:nvSpPr>
        <p:spPr>
          <a:xfrm>
            <a:off x="8841947" y="5889254"/>
            <a:ext cx="1915159" cy="255319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Arial Narrow" panose="020B0606020202030204" pitchFamily="34" charset="0"/>
              </a:rPr>
              <a:t>TEXT GENERATION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4EC1FD9-075C-7393-4021-67D065715C60}"/>
              </a:ext>
            </a:extLst>
          </p:cNvPr>
          <p:cNvSpPr/>
          <p:nvPr/>
        </p:nvSpPr>
        <p:spPr>
          <a:xfrm>
            <a:off x="8841947" y="3219401"/>
            <a:ext cx="1915159" cy="459672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Arial Narrow" panose="020B0606020202030204" pitchFamily="34" charset="0"/>
              </a:rPr>
              <a:t>FEATURE EXTRACTION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48C0E34-F481-BE71-9B13-B6D8832EB4DF}"/>
              </a:ext>
            </a:extLst>
          </p:cNvPr>
          <p:cNvSpPr/>
          <p:nvPr/>
        </p:nvSpPr>
        <p:spPr>
          <a:xfrm>
            <a:off x="5130801" y="3219401"/>
            <a:ext cx="1915159" cy="486095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Arial Narrow" panose="020B0606020202030204" pitchFamily="34" charset="0"/>
              </a:rPr>
              <a:t>VIDEO PROCESSING NLP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DA869E2-60D0-08DA-CCE5-A0372651105B}"/>
              </a:ext>
            </a:extLst>
          </p:cNvPr>
          <p:cNvSpPr/>
          <p:nvPr/>
        </p:nvSpPr>
        <p:spPr>
          <a:xfrm>
            <a:off x="4945380" y="5889254"/>
            <a:ext cx="1915159" cy="264707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Arial Narrow" panose="020B0606020202030204" pitchFamily="34" charset="0"/>
              </a:rPr>
              <a:t>SUMMARIZED TEXT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>
          <a:extLst>
            <a:ext uri="{FF2B5EF4-FFF2-40B4-BE49-F238E27FC236}">
              <a16:creationId xmlns:a16="http://schemas.microsoft.com/office/drawing/2014/main" id="{7FEFE7C5-B014-B248-A280-1360BE6D6E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6">
            <a:extLst>
              <a:ext uri="{FF2B5EF4-FFF2-40B4-BE49-F238E27FC236}">
                <a16:creationId xmlns:a16="http://schemas.microsoft.com/office/drawing/2014/main" id="{8DDF3340-775D-1206-5F9C-2A604B9E05F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b="1">
                <a:solidFill>
                  <a:schemeClr val="dk1"/>
                </a:solidFill>
              </a:rPr>
              <a:t>7</a:t>
            </a:fld>
            <a:endParaRPr b="1">
              <a:solidFill>
                <a:schemeClr val="dk1"/>
              </a:solidFill>
            </a:endParaRPr>
          </a:p>
        </p:txBody>
      </p:sp>
      <p:sp>
        <p:nvSpPr>
          <p:cNvPr id="127" name="Google Shape;127;p6">
            <a:extLst>
              <a:ext uri="{FF2B5EF4-FFF2-40B4-BE49-F238E27FC236}">
                <a16:creationId xmlns:a16="http://schemas.microsoft.com/office/drawing/2014/main" id="{1F26A455-1F7F-0E24-548B-1E2404FC73D5}"/>
              </a:ext>
            </a:extLst>
          </p:cNvPr>
          <p:cNvSpPr txBox="1"/>
          <p:nvPr/>
        </p:nvSpPr>
        <p:spPr>
          <a:xfrm>
            <a:off x="-1" y="0"/>
            <a:ext cx="12345600" cy="707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algn="ctr">
              <a:defRPr sz="4000" b="1">
                <a:solidFill>
                  <a:schemeClr val="dk1"/>
                </a:solidFill>
                <a:latin typeface="Arial Narrow"/>
                <a:ea typeface="Arial Narrow"/>
                <a:cs typeface="Arial Narrow"/>
              </a:defRPr>
            </a:lvl1pPr>
          </a:lstStyle>
          <a:p>
            <a:r>
              <a:rPr lang="en-US" dirty="0">
                <a:sym typeface="Arial Narrow"/>
              </a:rPr>
              <a:t>PROBLEM IDENTIFICAITON</a:t>
            </a:r>
            <a:endParaRPr dirty="0">
              <a:sym typeface="Arial Narrow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2ABDA42-5836-D2E3-1290-9E9478C88B40}"/>
              </a:ext>
            </a:extLst>
          </p:cNvPr>
          <p:cNvSpPr txBox="1"/>
          <p:nvPr/>
        </p:nvSpPr>
        <p:spPr>
          <a:xfrm>
            <a:off x="740229" y="1034142"/>
            <a:ext cx="10787742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GB" sz="2400" dirty="0">
                <a:latin typeface="Arial Narrow" panose="020B0606020202030204" pitchFamily="34" charset="0"/>
              </a:rPr>
              <a:t>Users find it difficult and time-consuming to watch lengthy YouTube videos to extract key information.</a:t>
            </a:r>
          </a:p>
          <a:p>
            <a:pPr marL="514350" indent="-514350">
              <a:buFont typeface="+mj-lt"/>
              <a:buAutoNum type="arabicPeriod"/>
            </a:pPr>
            <a:r>
              <a:rPr lang="en-GB" sz="2400" dirty="0">
                <a:latin typeface="Arial Narrow" panose="020B0606020202030204" pitchFamily="34" charset="0"/>
              </a:rPr>
              <a:t>Manual summarization of videos or transcripts is inefficient and prone to human error.</a:t>
            </a:r>
          </a:p>
          <a:p>
            <a:pPr marL="514350" indent="-514350">
              <a:buFont typeface="+mj-lt"/>
              <a:buAutoNum type="arabicPeriod"/>
            </a:pPr>
            <a:r>
              <a:rPr lang="en-GB" sz="2400" dirty="0">
                <a:latin typeface="Arial Narrow" panose="020B0606020202030204" pitchFamily="34" charset="0"/>
              </a:rPr>
              <a:t>Existing tools focus mainly on text summarization, not on processing full video or audio content.</a:t>
            </a:r>
          </a:p>
          <a:p>
            <a:pPr marL="514350" indent="-514350">
              <a:buFont typeface="+mj-lt"/>
              <a:buAutoNum type="arabicPeriod"/>
            </a:pPr>
            <a:r>
              <a:rPr lang="en-GB" sz="2400" dirty="0">
                <a:latin typeface="Arial Narrow" panose="020B0606020202030204" pitchFamily="34" charset="0"/>
              </a:rPr>
              <a:t>Lack of an integrated system that combines transcription, NLP-based summarization, and user interface for easy access.</a:t>
            </a:r>
          </a:p>
          <a:p>
            <a:pPr marL="514350" indent="-514350">
              <a:buFont typeface="+mj-lt"/>
              <a:buAutoNum type="arabicPeriod"/>
            </a:pPr>
            <a:r>
              <a:rPr lang="en-GB" sz="2400" dirty="0">
                <a:latin typeface="Arial Narrow" panose="020B0606020202030204" pitchFamily="34" charset="0"/>
              </a:rPr>
              <a:t>Difficulty in maintaining summary accuracy and context when converting spoken content into concise text form.</a:t>
            </a:r>
          </a:p>
        </p:txBody>
      </p:sp>
    </p:spTree>
    <p:extLst>
      <p:ext uri="{BB962C8B-B14F-4D97-AF65-F5344CB8AC3E}">
        <p14:creationId xmlns:p14="http://schemas.microsoft.com/office/powerpoint/2010/main" val="30148616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b="1">
                <a:solidFill>
                  <a:schemeClr val="dk1"/>
                </a:solidFill>
                <a:latin typeface="Arial Narrow" panose="020B0606020202030204" pitchFamily="34" charset="0"/>
              </a:rPr>
              <a:t>8</a:t>
            </a:fld>
            <a:endParaRPr b="1" dirty="0">
              <a:solidFill>
                <a:schemeClr val="dk1"/>
              </a:solidFill>
              <a:latin typeface="Arial Narrow" panose="020B0606020202030204" pitchFamily="34" charset="0"/>
            </a:endParaRPr>
          </a:p>
        </p:txBody>
      </p:sp>
      <p:sp>
        <p:nvSpPr>
          <p:cNvPr id="133" name="Google Shape;133;p7"/>
          <p:cNvSpPr txBox="1"/>
          <p:nvPr/>
        </p:nvSpPr>
        <p:spPr>
          <a:xfrm>
            <a:off x="-1" y="24568"/>
            <a:ext cx="12192000" cy="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/>
            <a:r>
              <a:rPr lang="en-US" sz="4000" b="1" dirty="0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PROPOSED SYSTEM </a:t>
            </a:r>
            <a:r>
              <a:rPr lang="en-US" sz="4000" b="1" dirty="0">
                <a:solidFill>
                  <a:schemeClr val="dk1"/>
                </a:solidFill>
                <a:latin typeface="Arial Narrow"/>
              </a:rPr>
              <a:t>ARCHITECTURE</a:t>
            </a:r>
            <a:endParaRPr lang="en-US" sz="4000" b="1" dirty="0">
              <a:solidFill>
                <a:schemeClr val="dk1"/>
              </a:solidFill>
              <a:latin typeface="Arial Narrow"/>
              <a:sym typeface="Arial Narrow"/>
            </a:endParaRPr>
          </a:p>
        </p:txBody>
      </p:sp>
      <p:pic>
        <p:nvPicPr>
          <p:cNvPr id="1028" name="Picture 4" descr="Intervention Generic Blue icon | Freepik">
            <a:extLst>
              <a:ext uri="{FF2B5EF4-FFF2-40B4-BE49-F238E27FC236}">
                <a16:creationId xmlns:a16="http://schemas.microsoft.com/office/drawing/2014/main" id="{962E3D34-C6A4-67ED-51AC-7C09DC4A9D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5573" y="1308077"/>
            <a:ext cx="1122218" cy="11222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An Ultimate Guide of Using Python in Unity (Part I) | by HAN, Lanyi | Medium">
            <a:extLst>
              <a:ext uri="{FF2B5EF4-FFF2-40B4-BE49-F238E27FC236}">
                <a16:creationId xmlns:a16="http://schemas.microsoft.com/office/drawing/2014/main" id="{31C008E9-8D44-FF47-AE82-DAA72AC5E74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118" t="4670" r="10591" b="22517"/>
          <a:stretch/>
        </p:blipFill>
        <p:spPr bwMode="auto">
          <a:xfrm>
            <a:off x="8035033" y="1351897"/>
            <a:ext cx="2628900" cy="11949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7+ Hundred Active Directory Icon Royalty-Free Images, Stock Photos &amp;  Pictures | Shutterstock">
            <a:extLst>
              <a:ext uri="{FF2B5EF4-FFF2-40B4-BE49-F238E27FC236}">
                <a16:creationId xmlns:a16="http://schemas.microsoft.com/office/drawing/2014/main" id="{9D218BC3-CC0D-90FB-795D-D51691CA2A4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025" t="21733" r="13413" b="10301"/>
          <a:stretch/>
        </p:blipFill>
        <p:spPr bwMode="auto">
          <a:xfrm>
            <a:off x="4407994" y="1215737"/>
            <a:ext cx="1632853" cy="15727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Audio &amp; Transcription | Mistral AI">
            <a:extLst>
              <a:ext uri="{FF2B5EF4-FFF2-40B4-BE49-F238E27FC236}">
                <a16:creationId xmlns:a16="http://schemas.microsoft.com/office/drawing/2014/main" id="{6D87D511-653D-DB62-0522-A4FE744AB0E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09" t="8944" r="4545" b="9908"/>
          <a:stretch/>
        </p:blipFill>
        <p:spPr bwMode="auto">
          <a:xfrm>
            <a:off x="8381050" y="4106372"/>
            <a:ext cx="2818390" cy="14755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Ollama with Sugoi LLM 14B/32B">
            <a:extLst>
              <a:ext uri="{FF2B5EF4-FFF2-40B4-BE49-F238E27FC236}">
                <a16:creationId xmlns:a16="http://schemas.microsoft.com/office/drawing/2014/main" id="{35C4E7B6-A24B-F1F3-041C-B8258B216E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29883" y="4053284"/>
            <a:ext cx="2229662" cy="13149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0" name="Picture 16" descr="Notepad Symbol Simple Flat Icon Paper Stock Vector (Royalty Free)  1075109483 | Shutterstock">
            <a:extLst>
              <a:ext uri="{FF2B5EF4-FFF2-40B4-BE49-F238E27FC236}">
                <a16:creationId xmlns:a16="http://schemas.microsoft.com/office/drawing/2014/main" id="{E068BEB2-CFA6-747A-1E09-EA7261F5FA8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441" t="18052" r="14195" b="22028"/>
          <a:stretch/>
        </p:blipFill>
        <p:spPr bwMode="auto">
          <a:xfrm>
            <a:off x="686299" y="4050455"/>
            <a:ext cx="1891146" cy="15980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2FACFD4E-765B-98E1-D0A6-D79C0B5B8025}"/>
              </a:ext>
            </a:extLst>
          </p:cNvPr>
          <p:cNvSpPr/>
          <p:nvPr/>
        </p:nvSpPr>
        <p:spPr>
          <a:xfrm>
            <a:off x="686298" y="2752133"/>
            <a:ext cx="1891147" cy="358793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050" dirty="0">
                <a:latin typeface="Arial Narrow" panose="020B0606020202030204" pitchFamily="34" charset="0"/>
              </a:rPr>
              <a:t>HUMAN INTERVENTION OR UI 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27D9E1B6-B650-4E1A-4B8A-AA9C4D65023D}"/>
              </a:ext>
            </a:extLst>
          </p:cNvPr>
          <p:cNvCxnSpPr>
            <a:cxnSpLocks/>
          </p:cNvCxnSpPr>
          <p:nvPr/>
        </p:nvCxnSpPr>
        <p:spPr>
          <a:xfrm>
            <a:off x="6095999" y="1962380"/>
            <a:ext cx="172276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44F039CC-CE34-B59B-6DE2-767AF635E972}"/>
              </a:ext>
            </a:extLst>
          </p:cNvPr>
          <p:cNvSpPr/>
          <p:nvPr/>
        </p:nvSpPr>
        <p:spPr>
          <a:xfrm>
            <a:off x="8917564" y="5765826"/>
            <a:ext cx="2129271" cy="358793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050" dirty="0">
                <a:latin typeface="Arial Narrow" panose="020B0606020202030204" pitchFamily="34" charset="0"/>
              </a:rPr>
              <a:t>WHISPER AI FOR TRANSCRIPTION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B6019E5-4960-23BF-2C3E-96D70E203266}"/>
              </a:ext>
            </a:extLst>
          </p:cNvPr>
          <p:cNvSpPr/>
          <p:nvPr/>
        </p:nvSpPr>
        <p:spPr>
          <a:xfrm>
            <a:off x="4460270" y="5766639"/>
            <a:ext cx="2129271" cy="358793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050" dirty="0"/>
              <a:t>TRANSCRIPT SUMMARY ON VIDEO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ED5B239-444C-A791-35F9-D09C9BD9FBA8}"/>
              </a:ext>
            </a:extLst>
          </p:cNvPr>
          <p:cNvSpPr/>
          <p:nvPr/>
        </p:nvSpPr>
        <p:spPr>
          <a:xfrm>
            <a:off x="692036" y="5766639"/>
            <a:ext cx="2129271" cy="358793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050" dirty="0">
                <a:latin typeface="Arial Narrow" panose="020B0606020202030204" pitchFamily="34" charset="0"/>
              </a:rPr>
              <a:t>OUTPUT IN NOTEPAD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FEF190B-01B8-0A3C-76D6-230CAB19C6E9}"/>
              </a:ext>
            </a:extLst>
          </p:cNvPr>
          <p:cNvSpPr/>
          <p:nvPr/>
        </p:nvSpPr>
        <p:spPr>
          <a:xfrm>
            <a:off x="8381050" y="2854665"/>
            <a:ext cx="2129271" cy="358793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050" dirty="0">
                <a:latin typeface="Arial Narrow" panose="020B0606020202030204" pitchFamily="34" charset="0"/>
              </a:rPr>
              <a:t>PYTHON FETCH VEDIO FROM LOCAL DIRECTORY (IPC)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6FD6150-F396-6478-D97F-B70271C4FA98}"/>
              </a:ext>
            </a:extLst>
          </p:cNvPr>
          <p:cNvSpPr/>
          <p:nvPr/>
        </p:nvSpPr>
        <p:spPr>
          <a:xfrm>
            <a:off x="4425898" y="2854665"/>
            <a:ext cx="1597043" cy="358793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050" dirty="0">
                <a:latin typeface="Arial Narrow" panose="020B0606020202030204" pitchFamily="34" charset="0"/>
              </a:rPr>
              <a:t>UNITY INTERACT WITH PYTHON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513AC210-2985-5C23-BF6D-FC96187A90E7}"/>
              </a:ext>
            </a:extLst>
          </p:cNvPr>
          <p:cNvCxnSpPr>
            <a:cxnSpLocks/>
            <a:endCxn id="1032" idx="1"/>
          </p:cNvCxnSpPr>
          <p:nvPr/>
        </p:nvCxnSpPr>
        <p:spPr>
          <a:xfrm>
            <a:off x="2654059" y="1972799"/>
            <a:ext cx="1753935" cy="2931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28B28631-1775-3B4E-F91A-961AB3D1F1B1}"/>
              </a:ext>
            </a:extLst>
          </p:cNvPr>
          <p:cNvCxnSpPr>
            <a:cxnSpLocks/>
          </p:cNvCxnSpPr>
          <p:nvPr/>
        </p:nvCxnSpPr>
        <p:spPr>
          <a:xfrm>
            <a:off x="9665951" y="3429000"/>
            <a:ext cx="0" cy="67737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CE0FAC3A-E50D-086C-0A42-1D9C5A6F35AA}"/>
              </a:ext>
            </a:extLst>
          </p:cNvPr>
          <p:cNvCxnSpPr>
            <a:cxnSpLocks/>
          </p:cNvCxnSpPr>
          <p:nvPr/>
        </p:nvCxnSpPr>
        <p:spPr>
          <a:xfrm flipH="1">
            <a:off x="6943638" y="4942100"/>
            <a:ext cx="133099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D447793E-CB76-0BCB-5CCD-2F4F89C20C2E}"/>
              </a:ext>
            </a:extLst>
          </p:cNvPr>
          <p:cNvCxnSpPr>
            <a:cxnSpLocks/>
            <a:endCxn id="1040" idx="3"/>
          </p:cNvCxnSpPr>
          <p:nvPr/>
        </p:nvCxnSpPr>
        <p:spPr>
          <a:xfrm flipH="1">
            <a:off x="2577445" y="4849479"/>
            <a:ext cx="157123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8"/>
          <p:cNvSpPr txBox="1">
            <a:spLocks noGrp="1"/>
          </p:cNvSpPr>
          <p:nvPr>
            <p:ph type="title"/>
          </p:nvPr>
        </p:nvSpPr>
        <p:spPr>
          <a:xfrm>
            <a:off x="0" y="0"/>
            <a:ext cx="121920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 sz="4000" b="1" dirty="0">
                <a:latin typeface="Arial Narrow"/>
                <a:ea typeface="Arial Narrow"/>
                <a:cs typeface="Arial Narrow"/>
                <a:sym typeface="Arial Narrow"/>
              </a:rPr>
              <a:t>SOFTWARE AND HARDWARE REQUIREMENTS </a:t>
            </a:r>
            <a:endParaRPr sz="4000" dirty="0"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39" name="Google Shape;139;p8"/>
          <p:cNvSpPr txBox="1">
            <a:spLocks noGrp="1"/>
          </p:cNvSpPr>
          <p:nvPr>
            <p:ph type="body" idx="2"/>
          </p:nvPr>
        </p:nvSpPr>
        <p:spPr>
          <a:xfrm>
            <a:off x="265938" y="2671762"/>
            <a:ext cx="51579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4000" b="1" dirty="0">
                <a:latin typeface="Arial Narrow"/>
                <a:ea typeface="Arial Narrow"/>
                <a:cs typeface="Arial Narrow"/>
                <a:sym typeface="Arial Narrow"/>
              </a:rPr>
              <a:t>SOFTWARE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dirty="0">
              <a:latin typeface="Arial Narrow"/>
              <a:ea typeface="Arial Narrow"/>
              <a:cs typeface="Arial Narrow"/>
              <a:sym typeface="Arial Narrow"/>
            </a:endParaRPr>
          </a:p>
          <a:p>
            <a:pPr marL="628650" indent="-514350">
              <a:buFont typeface="+mj-lt"/>
              <a:buAutoNum type="arabicPeriod"/>
            </a:pPr>
            <a:r>
              <a:rPr lang="en-IN" sz="2400" dirty="0">
                <a:latin typeface="Arial Narrow" panose="020B0606020202030204" pitchFamily="34" charset="0"/>
                <a:cs typeface="Times New Roman" panose="02020603050405020304" pitchFamily="18" charset="0"/>
              </a:rPr>
              <a:t>Python 3.x</a:t>
            </a:r>
          </a:p>
          <a:p>
            <a:pPr marL="628650" indent="-514350">
              <a:buFont typeface="+mj-lt"/>
              <a:buAutoNum type="arabicPeriod"/>
            </a:pPr>
            <a:r>
              <a:rPr lang="en-IN" sz="2400" dirty="0" err="1">
                <a:latin typeface="Arial Narrow" panose="020B0606020202030204" pitchFamily="34" charset="0"/>
                <a:cs typeface="Times New Roman" panose="02020603050405020304" pitchFamily="18" charset="0"/>
              </a:rPr>
              <a:t>Ollama</a:t>
            </a:r>
            <a:endParaRPr lang="en-IN" sz="2400" dirty="0">
              <a:latin typeface="Arial Narrow" panose="020B0606020202030204" pitchFamily="34" charset="0"/>
              <a:cs typeface="Times New Roman" panose="02020603050405020304" pitchFamily="18" charset="0"/>
            </a:endParaRPr>
          </a:p>
          <a:p>
            <a:pPr marL="628650" indent="-514350">
              <a:buFont typeface="+mj-lt"/>
              <a:buAutoNum type="arabicPeriod"/>
            </a:pPr>
            <a:r>
              <a:rPr lang="en-IN" sz="2400" dirty="0" err="1">
                <a:latin typeface="Arial Narrow" panose="020B0606020202030204" pitchFamily="34" charset="0"/>
                <a:cs typeface="Times New Roman" panose="02020603050405020304" pitchFamily="18" charset="0"/>
              </a:rPr>
              <a:t>HuggingFace</a:t>
            </a:r>
            <a:endParaRPr lang="en-IN" sz="2400" dirty="0">
              <a:latin typeface="Arial Narrow" panose="020B0606020202030204" pitchFamily="34" charset="0"/>
              <a:cs typeface="Times New Roman" panose="02020603050405020304" pitchFamily="18" charset="0"/>
            </a:endParaRPr>
          </a:p>
          <a:p>
            <a:pPr marL="628650" indent="-514350">
              <a:buFont typeface="+mj-lt"/>
              <a:buAutoNum type="arabicPeriod"/>
            </a:pPr>
            <a:r>
              <a:rPr lang="en-IN" sz="2400" dirty="0">
                <a:latin typeface="Arial Narrow" panose="020B0606020202030204" pitchFamily="34" charset="0"/>
                <a:cs typeface="Times New Roman" panose="02020603050405020304" pitchFamily="18" charset="0"/>
              </a:rPr>
              <a:t>Unity</a:t>
            </a:r>
          </a:p>
          <a:p>
            <a:pPr marL="628650" indent="-514350">
              <a:buFont typeface="+mj-lt"/>
              <a:buAutoNum type="arabicPeriod"/>
            </a:pPr>
            <a:endParaRPr lang="en-IN"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2800"/>
              <a:buNone/>
            </a:pPr>
            <a:endParaRPr dirty="0"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40" name="Google Shape;140;p8"/>
          <p:cNvSpPr txBox="1">
            <a:spLocks noGrp="1"/>
          </p:cNvSpPr>
          <p:nvPr>
            <p:ph type="body" idx="4"/>
          </p:nvPr>
        </p:nvSpPr>
        <p:spPr>
          <a:xfrm>
            <a:off x="6768164" y="2671762"/>
            <a:ext cx="51831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4000" b="1" dirty="0">
                <a:latin typeface="Arial Narrow"/>
                <a:ea typeface="Arial Narrow"/>
                <a:cs typeface="Arial Narrow"/>
                <a:sym typeface="Arial Narrow"/>
              </a:rPr>
              <a:t>HARDWARE</a:t>
            </a:r>
            <a:endParaRPr sz="4000" b="1" dirty="0">
              <a:latin typeface="Arial Narrow"/>
              <a:ea typeface="Arial Narrow"/>
              <a:cs typeface="Arial Narrow"/>
              <a:sym typeface="Arial Narrow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None/>
            </a:pPr>
            <a:endParaRPr dirty="0">
              <a:latin typeface="Arial Narrow"/>
              <a:ea typeface="Arial Narrow"/>
              <a:cs typeface="Arial Narrow"/>
              <a:sym typeface="Arial Narrow"/>
            </a:endParaRPr>
          </a:p>
          <a:p>
            <a:pPr marL="628650" indent="-514350">
              <a:buFont typeface="+mj-lt"/>
              <a:buAutoNum type="arabicPeriod"/>
            </a:pPr>
            <a:r>
              <a:rPr lang="en-GB" sz="2400" dirty="0">
                <a:latin typeface="Arial Narrow" panose="020B0606020202030204" pitchFamily="34" charset="0"/>
                <a:cs typeface="Times New Roman" panose="02020603050405020304" pitchFamily="18" charset="0"/>
              </a:rPr>
              <a:t>Intel i5/i7 or higher</a:t>
            </a:r>
          </a:p>
          <a:p>
            <a:pPr marL="628650" indent="-514350">
              <a:buFont typeface="+mj-lt"/>
              <a:buAutoNum type="arabicPeriod"/>
            </a:pPr>
            <a:r>
              <a:rPr lang="en-GB" sz="2400" dirty="0">
                <a:latin typeface="Arial Narrow" panose="020B0606020202030204" pitchFamily="34" charset="0"/>
                <a:cs typeface="Times New Roman" panose="02020603050405020304" pitchFamily="18" charset="0"/>
              </a:rPr>
              <a:t>8–16 GB RAM</a:t>
            </a:r>
          </a:p>
          <a:p>
            <a:pPr marL="628650" indent="-514350">
              <a:buFont typeface="+mj-lt"/>
              <a:buAutoNum type="arabicPeriod"/>
            </a:pPr>
            <a:r>
              <a:rPr lang="en-GB" sz="2400" dirty="0">
                <a:latin typeface="Arial Narrow" panose="020B0606020202030204" pitchFamily="34" charset="0"/>
                <a:cs typeface="Times New Roman" panose="02020603050405020304" pitchFamily="18" charset="0"/>
              </a:rPr>
              <a:t>GPU support for deep learning</a:t>
            </a:r>
          </a:p>
          <a:p>
            <a:endParaRPr dirty="0"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41" name="Google Shape;141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b="1">
                <a:solidFill>
                  <a:schemeClr val="dk1"/>
                </a:solidFill>
                <a:latin typeface="Arial Narrow" panose="020B0606020202030204" pitchFamily="34" charset="0"/>
              </a:rPr>
              <a:t>9</a:t>
            </a:fld>
            <a:endParaRPr b="1" dirty="0">
              <a:solidFill>
                <a:schemeClr val="dk1"/>
              </a:solidFill>
              <a:latin typeface="Arial Narrow" panose="020B0606020202030204" pitchFamily="3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9"/>
          <p:cNvSpPr txBox="1">
            <a:spLocks noGrp="1"/>
          </p:cNvSpPr>
          <p:nvPr>
            <p:ph type="title"/>
          </p:nvPr>
        </p:nvSpPr>
        <p:spPr>
          <a:xfrm>
            <a:off x="0" y="0"/>
            <a:ext cx="12192000" cy="61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None/>
            </a:pPr>
            <a:r>
              <a:rPr lang="en-US" b="1" dirty="0">
                <a:latin typeface="Arial Narrow"/>
                <a:ea typeface="Arial Narrow"/>
                <a:cs typeface="Arial Narrow"/>
                <a:sym typeface="Arial Narrow"/>
              </a:rPr>
              <a:t>MODULES </a:t>
            </a:r>
            <a:endParaRPr dirty="0"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47" name="Google Shape;147;p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628650" indent="-514350">
              <a:buFont typeface="+mj-lt"/>
              <a:buAutoNum type="arabicPeriod"/>
            </a:pPr>
            <a:r>
              <a:rPr lang="en-GB" sz="2400" dirty="0">
                <a:latin typeface="Arial Narrow" panose="020B0606020202030204" pitchFamily="34" charset="0"/>
                <a:cs typeface="Times New Roman" panose="02020603050405020304" pitchFamily="18" charset="0"/>
              </a:rPr>
              <a:t>Video Data Collection &amp; Preprocessing</a:t>
            </a:r>
          </a:p>
          <a:p>
            <a:pPr marL="628650" indent="-514350">
              <a:buFont typeface="+mj-lt"/>
              <a:buAutoNum type="arabicPeriod"/>
            </a:pPr>
            <a:r>
              <a:rPr lang="en-GB" sz="2400" dirty="0">
                <a:latin typeface="Arial Narrow" panose="020B0606020202030204" pitchFamily="34" charset="0"/>
                <a:cs typeface="Times New Roman" panose="02020603050405020304" pitchFamily="18" charset="0"/>
              </a:rPr>
              <a:t>Audio &amp; Transcript Extraction</a:t>
            </a:r>
          </a:p>
          <a:p>
            <a:pPr marL="628650" indent="-514350">
              <a:buFont typeface="+mj-lt"/>
              <a:buAutoNum type="arabicPeriod"/>
            </a:pPr>
            <a:r>
              <a:rPr lang="en-GB" sz="2400" dirty="0">
                <a:latin typeface="Arial Narrow" panose="020B0606020202030204" pitchFamily="34" charset="0"/>
                <a:cs typeface="Times New Roman" panose="02020603050405020304" pitchFamily="18" charset="0"/>
              </a:rPr>
              <a:t>Text Preprocessing</a:t>
            </a:r>
          </a:p>
          <a:p>
            <a:pPr marL="628650" indent="-514350">
              <a:buFont typeface="+mj-lt"/>
              <a:buAutoNum type="arabicPeriod"/>
            </a:pPr>
            <a:r>
              <a:rPr lang="en-GB" sz="2400" dirty="0">
                <a:latin typeface="Arial Narrow" panose="020B0606020202030204" pitchFamily="34" charset="0"/>
                <a:cs typeface="Times New Roman" panose="02020603050405020304" pitchFamily="18" charset="0"/>
              </a:rPr>
              <a:t>Summarization Engine</a:t>
            </a:r>
          </a:p>
          <a:p>
            <a:pPr marL="628650" indent="-514350">
              <a:buFont typeface="+mj-lt"/>
              <a:buAutoNum type="arabicPeriod"/>
            </a:pPr>
            <a:r>
              <a:rPr lang="en-GB" sz="2400" dirty="0">
                <a:latin typeface="Arial Narrow" panose="020B0606020202030204" pitchFamily="34" charset="0"/>
                <a:cs typeface="Times New Roman" panose="02020603050405020304" pitchFamily="18" charset="0"/>
              </a:rPr>
              <a:t>Output Generation Interface</a:t>
            </a:r>
          </a:p>
        </p:txBody>
      </p:sp>
      <p:sp>
        <p:nvSpPr>
          <p:cNvPr id="148" name="Google Shape;148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b="1">
                <a:solidFill>
                  <a:schemeClr val="dk1"/>
                </a:solidFill>
                <a:latin typeface="Arial Narrow" panose="020B0606020202030204" pitchFamily="34" charset="0"/>
              </a:rPr>
              <a:t>10</a:t>
            </a:fld>
            <a:endParaRPr b="1" dirty="0">
              <a:solidFill>
                <a:schemeClr val="dk1"/>
              </a:solidFill>
              <a:latin typeface="Arial Narrow" panose="020B0606020202030204" pitchFamily="34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0" name="Rectangle 159">
            <a:extLst>
              <a:ext uri="{FF2B5EF4-FFF2-40B4-BE49-F238E27FC236}">
                <a16:creationId xmlns:a16="http://schemas.microsoft.com/office/drawing/2014/main" id="{E45CA849-654C-4173-AD99-B3A2528275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3" name="Google Shape;153;p10"/>
          <p:cNvSpPr txBox="1">
            <a:spLocks noGrp="1"/>
          </p:cNvSpPr>
          <p:nvPr>
            <p:ph type="title"/>
          </p:nvPr>
        </p:nvSpPr>
        <p:spPr>
          <a:xfrm>
            <a:off x="429768" y="411480"/>
            <a:ext cx="11201400" cy="1106424"/>
          </a:xfrm>
          <a:prstGeom prst="rect">
            <a:avLst/>
          </a:prstGeom>
        </p:spPr>
        <p:txBody>
          <a:bodyPr spcFirstLastPara="1" lIns="91425" tIns="45700" rIns="91425" bIns="45700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None/>
            </a:pPr>
            <a:r>
              <a:rPr lang="en-US" sz="3600" b="1" dirty="0">
                <a:latin typeface="Arial Narrow"/>
                <a:ea typeface="Arial Narrow"/>
                <a:cs typeface="Arial Narrow"/>
                <a:sym typeface="Arial Narrow"/>
              </a:rPr>
              <a:t>IMPLEMENTATION OF MODULE-1</a:t>
            </a:r>
          </a:p>
        </p:txBody>
      </p:sp>
      <p:sp>
        <p:nvSpPr>
          <p:cNvPr id="162" name="Rectangle 161">
            <a:extLst>
              <a:ext uri="{FF2B5EF4-FFF2-40B4-BE49-F238E27FC236}">
                <a16:creationId xmlns:a16="http://schemas.microsoft.com/office/drawing/2014/main" id="{3E23A947-2D45-4208-AE2B-64948C87A3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87931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" name="Picture 2" descr="A computer screen shot of a robot&#10;&#10;AI-generated content may be incorrect.">
            <a:extLst>
              <a:ext uri="{FF2B5EF4-FFF2-40B4-BE49-F238E27FC236}">
                <a16:creationId xmlns:a16="http://schemas.microsoft.com/office/drawing/2014/main" id="{59038357-F4F4-C642-8D98-5B3E4D0C675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6568" b="-2"/>
          <a:stretch>
            <a:fillRect/>
          </a:stretch>
        </p:blipFill>
        <p:spPr>
          <a:xfrm>
            <a:off x="429768" y="1721922"/>
            <a:ext cx="6704891" cy="4520559"/>
          </a:xfrm>
          <a:prstGeom prst="rect">
            <a:avLst/>
          </a:prstGeom>
        </p:spPr>
      </p:pic>
      <p:sp useBgFill="1">
        <p:nvSpPr>
          <p:cNvPr id="164" name="Rectangle 163">
            <a:extLst>
              <a:ext uri="{FF2B5EF4-FFF2-40B4-BE49-F238E27FC236}">
                <a16:creationId xmlns:a16="http://schemas.microsoft.com/office/drawing/2014/main" id="{E5BBB0F9-6A59-4D02-A9C7-A2D6516684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43801" y="1721922"/>
            <a:ext cx="4218432" cy="4520560"/>
          </a:xfrm>
          <a:prstGeom prst="rect">
            <a:avLst/>
          </a:prstGeom>
          <a:ln w="9525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4" name="Google Shape;154;p10"/>
          <p:cNvSpPr txBox="1">
            <a:spLocks noGrp="1"/>
          </p:cNvSpPr>
          <p:nvPr>
            <p:ph type="body" idx="1"/>
          </p:nvPr>
        </p:nvSpPr>
        <p:spPr>
          <a:xfrm>
            <a:off x="7938752" y="2020824"/>
            <a:ext cx="3455097" cy="3959352"/>
          </a:xfrm>
          <a:prstGeom prst="rect">
            <a:avLst/>
          </a:prstGeom>
        </p:spPr>
        <p:txBody>
          <a:bodyPr spcFirstLastPara="1" lIns="91425" tIns="45700" rIns="91425" bIns="45700" anchor="ctr" anchorCtr="0">
            <a:normAutofit/>
          </a:bodyPr>
          <a:lstStyle/>
          <a:p>
            <a:pPr marL="628650" indent="-514350">
              <a:buFont typeface="+mj-lt"/>
              <a:buAutoNum type="arabicPeriod"/>
            </a:pPr>
            <a:r>
              <a:rPr lang="en-GB" sz="2400" dirty="0">
                <a:latin typeface="Arial Narrow" panose="020B0606020202030204" pitchFamily="34" charset="0"/>
                <a:cs typeface="Times New Roman" panose="02020603050405020304" pitchFamily="18" charset="0"/>
              </a:rPr>
              <a:t>This Video is downloaded via tube mate.</a:t>
            </a:r>
          </a:p>
          <a:p>
            <a:pPr marL="628650" indent="-514350">
              <a:buFont typeface="+mj-lt"/>
              <a:buAutoNum type="arabicPeriod"/>
            </a:pPr>
            <a:r>
              <a:rPr lang="en-GB" sz="2400" dirty="0">
                <a:latin typeface="Arial Narrow" panose="020B0606020202030204" pitchFamily="34" charset="0"/>
                <a:cs typeface="Times New Roman" panose="02020603050405020304" pitchFamily="18" charset="0"/>
              </a:rPr>
              <a:t>Then using unity UI we need to enter the location </a:t>
            </a:r>
          </a:p>
          <a:p>
            <a:pPr marL="628650" indent="-514350">
              <a:buFont typeface="+mj-lt"/>
              <a:buAutoNum type="arabicPeriod"/>
            </a:pPr>
            <a:r>
              <a:rPr lang="en-GB" sz="2400" dirty="0">
                <a:latin typeface="Arial Narrow" panose="020B0606020202030204" pitchFamily="34" charset="0"/>
                <a:cs typeface="Times New Roman" panose="02020603050405020304" pitchFamily="18" charset="0"/>
              </a:rPr>
              <a:t>of the video</a:t>
            </a:r>
          </a:p>
          <a:p>
            <a:pPr marL="628650" indent="-514350">
              <a:buFont typeface="+mj-lt"/>
              <a:buAutoNum type="arabicPeriod"/>
            </a:pPr>
            <a:r>
              <a:rPr lang="en-GB" sz="2400" dirty="0">
                <a:latin typeface="Arial Narrow" panose="020B0606020202030204" pitchFamily="34" charset="0"/>
                <a:cs typeface="Times New Roman" panose="02020603050405020304" pitchFamily="18" charset="0"/>
              </a:rPr>
              <a:t>Fetch text  through (IPC)</a:t>
            </a:r>
          </a:p>
          <a:p>
            <a:pPr marL="628650" indent="-514350">
              <a:buFont typeface="+mj-lt"/>
              <a:buAutoNum type="arabicPeriod"/>
            </a:pPr>
            <a:endParaRPr lang="en-GB" sz="2400" dirty="0">
              <a:latin typeface="Arial Narrow" panose="020B0606020202030204" pitchFamily="34" charset="0"/>
            </a:endParaRPr>
          </a:p>
        </p:txBody>
      </p:sp>
      <p:sp>
        <p:nvSpPr>
          <p:cNvPr id="155" name="Google Shape;155;p10"/>
          <p:cNvSpPr txBox="1">
            <a:spLocks noGrp="1"/>
          </p:cNvSpPr>
          <p:nvPr>
            <p:ph type="sldNum" idx="12"/>
          </p:nvPr>
        </p:nvSpPr>
        <p:spPr>
          <a:xfrm>
            <a:off x="8595360" y="6356350"/>
            <a:ext cx="2743200" cy="365125"/>
          </a:xfrm>
          <a:prstGeom prst="rect">
            <a:avLst/>
          </a:prstGeom>
        </p:spPr>
        <p:txBody>
          <a:bodyPr spcFirstLastPara="1" lIns="91425" tIns="45700" rIns="91425" bIns="45700" anchorCtr="0">
            <a:normAutofit/>
          </a:bodyPr>
          <a:lstStyle/>
          <a:p>
            <a:pPr marL="0" lvl="0" indent="0" rtl="0">
              <a:spcBef>
                <a:spcPts val="0"/>
              </a:spcBef>
              <a:spcAft>
                <a:spcPts val="600"/>
              </a:spcAft>
              <a:buNone/>
            </a:pPr>
            <a:fld id="{00000000-1234-1234-1234-123412341234}" type="slidenum">
              <a:rPr lang="en-US" b="1">
                <a:solidFill>
                  <a:schemeClr val="tx1">
                    <a:lumMod val="50000"/>
                    <a:lumOff val="50000"/>
                  </a:schemeClr>
                </a:solidFill>
                <a:latin typeface="Arial Narrow" panose="020B0606020202030204" pitchFamily="34" charset="0"/>
              </a:rPr>
              <a:pPr marL="0" lvl="0" indent="0" rtl="0">
                <a:spcBef>
                  <a:spcPts val="0"/>
                </a:spcBef>
                <a:spcAft>
                  <a:spcPts val="600"/>
                </a:spcAft>
                <a:buNone/>
              </a:pPr>
              <a:t>11</a:t>
            </a:fld>
            <a:endParaRPr lang="en-US" b="1">
              <a:solidFill>
                <a:schemeClr val="tx1">
                  <a:lumMod val="50000"/>
                  <a:lumOff val="50000"/>
                </a:schemeClr>
              </a:solidFill>
              <a:latin typeface="Arial Narrow" panose="020B060602020203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8B16D2A-5164-4BB1-6F6A-2AF08F83A04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767" y="1721920"/>
            <a:ext cx="6745650" cy="452056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628650" indent="-514350">
              <a:buFont typeface="+mj-lt"/>
              <a:buAutoNum type="arabicPeriod"/>
            </a:pPr>
            <a:r>
              <a:rPr lang="en-GB" sz="2400" dirty="0">
                <a:latin typeface="Arial Narrow" panose="020B0606020202030204" pitchFamily="34" charset="0"/>
                <a:cs typeface="Times New Roman" panose="02020603050405020304" pitchFamily="18" charset="0"/>
              </a:rPr>
              <a:t>Remove background noise from audio for clear transcription.</a:t>
            </a:r>
          </a:p>
          <a:p>
            <a:pPr marL="628650" indent="-514350">
              <a:buFont typeface="+mj-lt"/>
              <a:buAutoNum type="arabicPeriod"/>
            </a:pPr>
            <a:r>
              <a:rPr lang="en-GB" sz="2400" dirty="0">
                <a:latin typeface="Arial Narrow" panose="020B0606020202030204" pitchFamily="34" charset="0"/>
                <a:cs typeface="Times New Roman" panose="02020603050405020304" pitchFamily="18" charset="0"/>
              </a:rPr>
              <a:t>Eliminate </a:t>
            </a:r>
            <a:r>
              <a:rPr lang="en-GB" sz="2400" dirty="0" err="1">
                <a:latin typeface="Arial Narrow" panose="020B0606020202030204" pitchFamily="34" charset="0"/>
                <a:cs typeface="Times New Roman" panose="02020603050405020304" pitchFamily="18" charset="0"/>
              </a:rPr>
              <a:t>stopwords</a:t>
            </a:r>
            <a:r>
              <a:rPr lang="en-GB" sz="2400" dirty="0">
                <a:latin typeface="Arial Narrow" panose="020B0606020202030204" pitchFamily="34" charset="0"/>
                <a:cs typeface="Times New Roman" panose="02020603050405020304" pitchFamily="18" charset="0"/>
              </a:rPr>
              <a:t> and punctuation for cleaner text.</a:t>
            </a:r>
          </a:p>
          <a:p>
            <a:pPr marL="628650" indent="-514350">
              <a:buFont typeface="+mj-lt"/>
              <a:buAutoNum type="arabicPeriod"/>
            </a:pPr>
            <a:r>
              <a:rPr lang="en-GB" sz="2400" dirty="0">
                <a:latin typeface="Arial Narrow" panose="020B0606020202030204" pitchFamily="34" charset="0"/>
                <a:cs typeface="Times New Roman" panose="02020603050405020304" pitchFamily="18" charset="0"/>
              </a:rPr>
              <a:t>Apply tokenization for splitting text into meaningful units.</a:t>
            </a:r>
          </a:p>
          <a:p>
            <a:pPr marL="628650" indent="-514350">
              <a:buFont typeface="+mj-lt"/>
              <a:buAutoNum type="arabicPeriod"/>
            </a:pPr>
            <a:r>
              <a:rPr lang="en-GB" sz="2400" dirty="0">
                <a:latin typeface="Arial Narrow" panose="020B0606020202030204" pitchFamily="34" charset="0"/>
                <a:cs typeface="Times New Roman" panose="02020603050405020304" pitchFamily="18" charset="0"/>
              </a:rPr>
              <a:t>Perform lemmatization using </a:t>
            </a:r>
            <a:r>
              <a:rPr lang="en-GB" sz="2400" dirty="0" err="1">
                <a:latin typeface="Arial Narrow" panose="020B0606020202030204" pitchFamily="34" charset="0"/>
                <a:cs typeface="Times New Roman" panose="02020603050405020304" pitchFamily="18" charset="0"/>
              </a:rPr>
              <a:t>SpaCy</a:t>
            </a:r>
            <a:r>
              <a:rPr lang="en-GB" sz="2400" dirty="0">
                <a:latin typeface="Arial Narrow" panose="020B0606020202030204" pitchFamily="34" charset="0"/>
                <a:cs typeface="Times New Roman" panose="02020603050405020304" pitchFamily="18" charset="0"/>
              </a:rPr>
              <a:t>/NLTK to normalize words.</a:t>
            </a:r>
          </a:p>
        </p:txBody>
      </p:sp>
      <p:sp>
        <p:nvSpPr>
          <p:cNvPr id="161" name="Google Shape;161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b="1">
                <a:solidFill>
                  <a:schemeClr val="dk1"/>
                </a:solidFill>
                <a:latin typeface="Arial Narrow" panose="020B0606020202030204" pitchFamily="34" charset="0"/>
              </a:rPr>
              <a:t>12</a:t>
            </a:fld>
            <a:endParaRPr b="1" dirty="0">
              <a:solidFill>
                <a:schemeClr val="dk1"/>
              </a:solidFill>
              <a:latin typeface="Arial Narrow" panose="020B0606020202030204" pitchFamily="34" charset="0"/>
            </a:endParaRPr>
          </a:p>
        </p:txBody>
      </p:sp>
      <p:sp>
        <p:nvSpPr>
          <p:cNvPr id="162" name="Google Shape;162;p11"/>
          <p:cNvSpPr txBox="1">
            <a:spLocks noGrp="1"/>
          </p:cNvSpPr>
          <p:nvPr>
            <p:ph type="title"/>
          </p:nvPr>
        </p:nvSpPr>
        <p:spPr>
          <a:xfrm>
            <a:off x="0" y="0"/>
            <a:ext cx="12192000" cy="56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None/>
            </a:pPr>
            <a:r>
              <a:rPr lang="en-US" b="1" dirty="0">
                <a:latin typeface="Arial Narrow"/>
                <a:ea typeface="Arial Narrow"/>
                <a:cs typeface="Arial Narrow"/>
                <a:sym typeface="Arial Narrow"/>
              </a:rPr>
              <a:t>IMPLEMENTATION OF MODULE-2</a:t>
            </a:r>
            <a:endParaRPr b="1" dirty="0">
              <a:latin typeface="Arial Narrow"/>
              <a:ea typeface="Arial Narrow"/>
              <a:cs typeface="Arial Narrow"/>
              <a:sym typeface="Arial Narrow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628650" indent="-514350">
              <a:buFont typeface="+mj-lt"/>
              <a:buAutoNum type="arabicPeriod"/>
            </a:pPr>
            <a:r>
              <a:rPr lang="en-GB" sz="2400" dirty="0">
                <a:latin typeface="Arial Narrow" panose="020B0606020202030204" pitchFamily="34" charset="0"/>
                <a:cs typeface="Times New Roman" panose="02020603050405020304" pitchFamily="18" charset="0"/>
              </a:rPr>
              <a:t>Implement extractive summarization using BERT embeddings.</a:t>
            </a:r>
          </a:p>
          <a:p>
            <a:pPr marL="628650" indent="-514350">
              <a:buFont typeface="+mj-lt"/>
              <a:buAutoNum type="arabicPeriod"/>
            </a:pPr>
            <a:r>
              <a:rPr lang="en-GB" sz="2400" dirty="0">
                <a:latin typeface="Arial Narrow" panose="020B0606020202030204" pitchFamily="34" charset="0"/>
                <a:cs typeface="Times New Roman" panose="02020603050405020304" pitchFamily="18" charset="0"/>
              </a:rPr>
              <a:t>Rank sentences based on semantic similarity and importance.</a:t>
            </a:r>
          </a:p>
          <a:p>
            <a:pPr marL="628650" indent="-514350">
              <a:buFont typeface="+mj-lt"/>
              <a:buAutoNum type="arabicPeriod"/>
            </a:pPr>
            <a:r>
              <a:rPr lang="en-GB" sz="2400" dirty="0">
                <a:latin typeface="Arial Narrow" panose="020B0606020202030204" pitchFamily="34" charset="0"/>
                <a:cs typeface="Times New Roman" panose="02020603050405020304" pitchFamily="18" charset="0"/>
              </a:rPr>
              <a:t>Use transformer models (Mistral) for abstractive summarization.</a:t>
            </a:r>
          </a:p>
          <a:p>
            <a:pPr marL="628650" indent="-514350">
              <a:buFont typeface="+mj-lt"/>
              <a:buAutoNum type="arabicPeriod"/>
            </a:pPr>
            <a:r>
              <a:rPr lang="en-GB" sz="2400" dirty="0">
                <a:latin typeface="Arial Narrow" panose="020B0606020202030204" pitchFamily="34" charset="0"/>
                <a:cs typeface="Times New Roman" panose="02020603050405020304" pitchFamily="18" charset="0"/>
              </a:rPr>
              <a:t>Compare extractive vs. abstractive outputs for accuracy.</a:t>
            </a:r>
          </a:p>
        </p:txBody>
      </p:sp>
      <p:sp>
        <p:nvSpPr>
          <p:cNvPr id="168" name="Google Shape;168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b="1">
                <a:solidFill>
                  <a:schemeClr val="dk1"/>
                </a:solidFill>
                <a:latin typeface="Arial Narrow" panose="020B0606020202030204" pitchFamily="34" charset="0"/>
              </a:rPr>
              <a:t>13</a:t>
            </a:fld>
            <a:endParaRPr b="1" dirty="0">
              <a:solidFill>
                <a:schemeClr val="dk1"/>
              </a:solidFill>
              <a:latin typeface="Arial Narrow" panose="020B0606020202030204" pitchFamily="34" charset="0"/>
            </a:endParaRPr>
          </a:p>
        </p:txBody>
      </p:sp>
      <p:sp>
        <p:nvSpPr>
          <p:cNvPr id="169" name="Google Shape;169;p12"/>
          <p:cNvSpPr txBox="1">
            <a:spLocks noGrp="1"/>
          </p:cNvSpPr>
          <p:nvPr>
            <p:ph type="title"/>
          </p:nvPr>
        </p:nvSpPr>
        <p:spPr>
          <a:xfrm>
            <a:off x="0" y="0"/>
            <a:ext cx="12192000" cy="56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None/>
            </a:pPr>
            <a:r>
              <a:rPr lang="en-US" b="1" dirty="0">
                <a:latin typeface="Arial Narrow"/>
                <a:ea typeface="Arial Narrow"/>
                <a:cs typeface="Arial Narrow"/>
                <a:sym typeface="Arial Narrow"/>
              </a:rPr>
              <a:t>IMPLEMENTATION OF MODULE-3</a:t>
            </a:r>
            <a:endParaRPr b="1" dirty="0">
              <a:latin typeface="Arial Narrow"/>
              <a:ea typeface="Arial Narrow"/>
              <a:cs typeface="Arial Narrow"/>
              <a:sym typeface="Arial Narrow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628650" indent="-514350">
              <a:buFont typeface="+mj-lt"/>
              <a:buAutoNum type="arabicPeriod"/>
            </a:pPr>
            <a:r>
              <a:rPr lang="en-IN" sz="2400" dirty="0">
                <a:latin typeface="Arial Narrow" panose="020B0606020202030204" pitchFamily="34" charset="0"/>
                <a:cs typeface="Times New Roman" panose="02020603050405020304" pitchFamily="18" charset="0"/>
              </a:rPr>
              <a:t>Integrate NLP pipeline with </a:t>
            </a:r>
            <a:r>
              <a:rPr lang="en-IN" sz="2400" dirty="0" err="1">
                <a:latin typeface="Arial Narrow" panose="020B0606020202030204" pitchFamily="34" charset="0"/>
                <a:cs typeface="Times New Roman" panose="02020603050405020304" pitchFamily="18" charset="0"/>
              </a:rPr>
              <a:t>Ollama</a:t>
            </a:r>
            <a:r>
              <a:rPr lang="en-IN" sz="2400" dirty="0">
                <a:latin typeface="Arial Narrow" panose="020B0606020202030204" pitchFamily="34" charset="0"/>
                <a:cs typeface="Times New Roman" panose="02020603050405020304" pitchFamily="18" charset="0"/>
              </a:rPr>
              <a:t> and pretrained transformers.</a:t>
            </a:r>
          </a:p>
          <a:p>
            <a:pPr marL="628650" indent="-514350">
              <a:buFont typeface="+mj-lt"/>
              <a:buAutoNum type="arabicPeriod"/>
            </a:pPr>
            <a:r>
              <a:rPr lang="en-IN" sz="2400" dirty="0">
                <a:latin typeface="Arial Narrow" panose="020B0606020202030204" pitchFamily="34" charset="0"/>
                <a:cs typeface="Times New Roman" panose="02020603050405020304" pitchFamily="18" charset="0"/>
              </a:rPr>
              <a:t>Perform context-aware summarization with Whisper AI inputs.</a:t>
            </a:r>
          </a:p>
          <a:p>
            <a:pPr marL="628650" indent="-514350">
              <a:buFont typeface="+mj-lt"/>
              <a:buAutoNum type="arabicPeriod"/>
            </a:pPr>
            <a:r>
              <a:rPr lang="en-IN" sz="2400" dirty="0">
                <a:latin typeface="Arial Narrow" panose="020B0606020202030204" pitchFamily="34" charset="0"/>
                <a:cs typeface="Times New Roman" panose="02020603050405020304" pitchFamily="18" charset="0"/>
              </a:rPr>
              <a:t>Combine extractive and abstractive summaries for better results.</a:t>
            </a:r>
          </a:p>
          <a:p>
            <a:pPr marL="628650" indent="-514350">
              <a:buFont typeface="+mj-lt"/>
              <a:buAutoNum type="arabicPeriod"/>
            </a:pPr>
            <a:r>
              <a:rPr lang="en-IN" sz="2400" dirty="0">
                <a:latin typeface="Arial Narrow" panose="020B0606020202030204" pitchFamily="34" charset="0"/>
                <a:cs typeface="Times New Roman" panose="02020603050405020304" pitchFamily="18" charset="0"/>
              </a:rPr>
              <a:t>Optimize summaries to retain meaning while reducing redundancy.</a:t>
            </a:r>
          </a:p>
        </p:txBody>
      </p:sp>
      <p:sp>
        <p:nvSpPr>
          <p:cNvPr id="175" name="Google Shape;175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b="1">
                <a:solidFill>
                  <a:schemeClr val="dk1"/>
                </a:solidFill>
                <a:latin typeface="Arial Narrow" panose="020B0606020202030204" pitchFamily="34" charset="0"/>
              </a:rPr>
              <a:t>14</a:t>
            </a:fld>
            <a:endParaRPr b="1" dirty="0">
              <a:solidFill>
                <a:schemeClr val="dk1"/>
              </a:solidFill>
              <a:latin typeface="Arial Narrow" panose="020B0606020202030204" pitchFamily="34" charset="0"/>
            </a:endParaRPr>
          </a:p>
        </p:txBody>
      </p:sp>
      <p:sp>
        <p:nvSpPr>
          <p:cNvPr id="176" name="Google Shape;176;p13"/>
          <p:cNvSpPr txBox="1">
            <a:spLocks noGrp="1"/>
          </p:cNvSpPr>
          <p:nvPr>
            <p:ph type="title"/>
          </p:nvPr>
        </p:nvSpPr>
        <p:spPr>
          <a:xfrm>
            <a:off x="0" y="0"/>
            <a:ext cx="12192000" cy="56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None/>
            </a:pPr>
            <a:r>
              <a:rPr lang="en-US" b="1" dirty="0">
                <a:latin typeface="Arial Narrow"/>
                <a:ea typeface="Arial Narrow"/>
                <a:cs typeface="Arial Narrow"/>
                <a:sym typeface="Arial Narrow"/>
              </a:rPr>
              <a:t>IMPLEMENTATION OF MODULE-4</a:t>
            </a:r>
            <a:endParaRPr b="1" dirty="0">
              <a:latin typeface="Arial Narrow"/>
              <a:ea typeface="Arial Narrow"/>
              <a:cs typeface="Arial Narrow"/>
              <a:sym typeface="Arial Narrow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4"/>
          <p:cNvSpPr txBox="1">
            <a:spLocks noGrp="1"/>
          </p:cNvSpPr>
          <p:nvPr>
            <p:ph type="title"/>
          </p:nvPr>
        </p:nvSpPr>
        <p:spPr>
          <a:xfrm>
            <a:off x="838200" y="0"/>
            <a:ext cx="10515600" cy="6850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None/>
            </a:pPr>
            <a:r>
              <a:rPr lang="en-US" sz="4000" b="1" dirty="0">
                <a:latin typeface="Arial Narrow"/>
                <a:ea typeface="Arial Narrow"/>
                <a:cs typeface="Arial Narrow"/>
                <a:sym typeface="Arial Narrow"/>
              </a:rPr>
              <a:t>IMPLEMENTATION OF MODULE-5</a:t>
            </a:r>
            <a:endParaRPr sz="4000" b="1" dirty="0"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A02DD2B-8E5F-4C0E-EE5E-55EFAC2984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628650" indent="-514350">
              <a:buFont typeface="+mj-lt"/>
              <a:buAutoNum type="arabicPeriod"/>
            </a:pPr>
            <a:r>
              <a:rPr lang="en-IN" sz="2400" dirty="0">
                <a:latin typeface="Arial Narrow" panose="020B0606020202030204" pitchFamily="34" charset="0"/>
              </a:rPr>
              <a:t>Present summaries via a simple, user-friendly UI.</a:t>
            </a:r>
          </a:p>
          <a:p>
            <a:pPr marL="628650" indent="-514350">
              <a:buFont typeface="+mj-lt"/>
              <a:buAutoNum type="arabicPeriod"/>
            </a:pPr>
            <a:r>
              <a:rPr lang="en-IN" sz="2400" dirty="0">
                <a:latin typeface="Arial Narrow" panose="020B0606020202030204" pitchFamily="34" charset="0"/>
              </a:rPr>
              <a:t>Allow users to export results in .txt format.</a:t>
            </a:r>
          </a:p>
          <a:p>
            <a:pPr marL="628650" indent="-514350">
              <a:buFont typeface="+mj-lt"/>
              <a:buAutoNum type="arabicPeriod"/>
            </a:pPr>
            <a:r>
              <a:rPr lang="en-IN" sz="2400" dirty="0">
                <a:latin typeface="Arial Narrow" panose="020B0606020202030204" pitchFamily="34" charset="0"/>
              </a:rPr>
              <a:t>Backend implemented in Python with request module.</a:t>
            </a:r>
          </a:p>
          <a:p>
            <a:pPr marL="628650" indent="-514350">
              <a:buFont typeface="+mj-lt"/>
              <a:buAutoNum type="arabicPeriod"/>
            </a:pPr>
            <a:r>
              <a:rPr lang="en-IN" sz="2400" dirty="0">
                <a:latin typeface="Arial Narrow" panose="020B0606020202030204" pitchFamily="34" charset="0"/>
              </a:rPr>
              <a:t>Provide seamless interaction between modules for smooth user experience.</a:t>
            </a:r>
          </a:p>
        </p:txBody>
      </p:sp>
      <p:sp>
        <p:nvSpPr>
          <p:cNvPr id="182" name="Google Shape;182;p14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b="1">
                <a:solidFill>
                  <a:schemeClr val="dk1"/>
                </a:solidFill>
                <a:latin typeface="Arial Narrow" panose="020B0606020202030204" pitchFamily="34" charset="0"/>
              </a:rPr>
              <a:t>15</a:t>
            </a:fld>
            <a:endParaRPr b="1" dirty="0">
              <a:solidFill>
                <a:schemeClr val="dk1"/>
              </a:solidFill>
              <a:latin typeface="Arial Narrow" panose="020B0606020202030204" pitchFamily="34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6"/>
          <p:cNvSpPr txBox="1">
            <a:spLocks noGrp="1"/>
          </p:cNvSpPr>
          <p:nvPr>
            <p:ph type="title"/>
          </p:nvPr>
        </p:nvSpPr>
        <p:spPr>
          <a:xfrm>
            <a:off x="0" y="0"/>
            <a:ext cx="12066900" cy="89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 sz="4000" b="1" dirty="0">
                <a:latin typeface="Arial Narrow"/>
                <a:ea typeface="Arial Narrow"/>
                <a:cs typeface="Arial Narrow"/>
                <a:sym typeface="Arial Narrow"/>
              </a:rPr>
              <a:t>CONCLUSION</a:t>
            </a:r>
            <a:endParaRPr sz="4000" b="1" dirty="0"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95" name="Google Shape;195;p1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628650" indent="-514350">
              <a:buFont typeface="+mj-lt"/>
              <a:buAutoNum type="arabicPeriod"/>
            </a:pPr>
            <a:r>
              <a:rPr lang="en-US" sz="2400" dirty="0">
                <a:latin typeface="Arial Narrow" panose="020B0606020202030204" pitchFamily="34" charset="0"/>
                <a:cs typeface="Times New Roman" panose="02020603050405020304" pitchFamily="18" charset="0"/>
              </a:rPr>
              <a:t>The system employed to generate summaries for lengthy YouTube videos is designed to save time and provide users with a quick yet accurate understanding of the content.</a:t>
            </a:r>
          </a:p>
          <a:p>
            <a:pPr marL="628650" indent="-514350">
              <a:buFont typeface="+mj-lt"/>
              <a:buAutoNum type="arabicPeriod"/>
            </a:pPr>
            <a:r>
              <a:rPr lang="en-US" sz="2400" dirty="0">
                <a:latin typeface="Arial Narrow" panose="020B0606020202030204" pitchFamily="34" charset="0"/>
                <a:cs typeface="Times New Roman" panose="02020603050405020304" pitchFamily="18" charset="0"/>
              </a:rPr>
              <a:t>This system utilizes a combination of two distinct Natural Language Processing (NLP) </a:t>
            </a:r>
            <a:r>
              <a:rPr lang="en-US" sz="2400" dirty="0" err="1">
                <a:latin typeface="Arial Narrow" panose="020B0606020202030204" pitchFamily="34" charset="0"/>
                <a:cs typeface="Times New Roman" panose="02020603050405020304" pitchFamily="18" charset="0"/>
              </a:rPr>
              <a:t>techniques.extractive</a:t>
            </a:r>
            <a:r>
              <a:rPr lang="en-US" sz="2400" dirty="0">
                <a:latin typeface="Arial Narrow" panose="020B0606020202030204" pitchFamily="34" charset="0"/>
                <a:cs typeface="Times New Roman" panose="02020603050405020304" pitchFamily="18" charset="0"/>
              </a:rPr>
              <a:t> summarization and abstractive summarization.</a:t>
            </a:r>
          </a:p>
          <a:p>
            <a:pPr marL="628650" indent="-514350">
              <a:buFont typeface="+mj-lt"/>
              <a:buAutoNum type="arabicPeriod"/>
            </a:pPr>
            <a:r>
              <a:rPr lang="en-US" sz="2400" dirty="0">
                <a:latin typeface="Arial Narrow" panose="020B0606020202030204" pitchFamily="34" charset="0"/>
                <a:cs typeface="Times New Roman" panose="02020603050405020304" pitchFamily="18" charset="0"/>
              </a:rPr>
              <a:t>By integrating both methods, it ensures the generated summaries. </a:t>
            </a:r>
          </a:p>
          <a:p>
            <a:pPr marL="628650" indent="-514350">
              <a:buFont typeface="+mj-lt"/>
              <a:buAutoNum type="arabicPeriod"/>
            </a:pPr>
            <a:r>
              <a:rPr lang="en-US" sz="2400" dirty="0">
                <a:latin typeface="Arial Narrow" panose="020B0606020202030204" pitchFamily="34" charset="0"/>
                <a:cs typeface="Times New Roman" panose="02020603050405020304" pitchFamily="18" charset="0"/>
              </a:rPr>
              <a:t>Maintain high contextual accuracy while also being concise and coherent. the same sentence with bulletin</a:t>
            </a:r>
            <a:endParaRPr lang="en-GB" sz="2400" dirty="0">
              <a:latin typeface="Arial Narrow" panose="020B0606020202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96" name="Google Shape;196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b="1">
                <a:solidFill>
                  <a:schemeClr val="tx1"/>
                </a:solidFill>
                <a:latin typeface="Arial Narrow" panose="020B0606020202030204" pitchFamily="34" charset="0"/>
              </a:rPr>
              <a:t>16</a:t>
            </a:fld>
            <a:endParaRPr b="1" dirty="0">
              <a:solidFill>
                <a:schemeClr val="tx1"/>
              </a:solidFill>
              <a:latin typeface="Arial Narrow" panose="020B0606020202030204" pitchFamily="34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>
          <a:extLst>
            <a:ext uri="{FF2B5EF4-FFF2-40B4-BE49-F238E27FC236}">
              <a16:creationId xmlns:a16="http://schemas.microsoft.com/office/drawing/2014/main" id="{158DC945-209D-3CC4-978D-F1775DC4CA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6">
            <a:extLst>
              <a:ext uri="{FF2B5EF4-FFF2-40B4-BE49-F238E27FC236}">
                <a16:creationId xmlns:a16="http://schemas.microsoft.com/office/drawing/2014/main" id="{41AD951B-2AFC-752E-2E78-41812B04042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0"/>
            <a:ext cx="12066900" cy="89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 algn="ctr">
              <a:buSzPts val="4400"/>
            </a:pPr>
            <a:r>
              <a:rPr lang="en-US" b="1" dirty="0">
                <a:latin typeface="Arial Narrow"/>
              </a:rPr>
              <a:t>FUTURE ENHANCEMENTS </a:t>
            </a:r>
            <a:endParaRPr b="1" dirty="0">
              <a:latin typeface="Arial Narrow"/>
              <a:sym typeface="Arial Narrow"/>
            </a:endParaRPr>
          </a:p>
        </p:txBody>
      </p:sp>
      <p:sp>
        <p:nvSpPr>
          <p:cNvPr id="196" name="Google Shape;196;p16">
            <a:extLst>
              <a:ext uri="{FF2B5EF4-FFF2-40B4-BE49-F238E27FC236}">
                <a16:creationId xmlns:a16="http://schemas.microsoft.com/office/drawing/2014/main" id="{5F65EE21-0D87-9A7B-FC62-462463E7E7B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chemeClr val="dk1"/>
                </a:solidFill>
              </a:rPr>
              <a:t>17</a:t>
            </a:fld>
            <a:endParaRPr>
              <a:solidFill>
                <a:schemeClr val="dk1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D265D8-124A-3520-E1A7-40DA610880F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160318" y="1616458"/>
            <a:ext cx="9871364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arrow" panose="020B0606020202030204" pitchFamily="34" charset="0"/>
              </a:rPr>
              <a:t>Add multilingual support for diverse languages.</a:t>
            </a:r>
          </a:p>
          <a:p>
            <a:pPr marL="342900"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arrow" panose="020B0606020202030204" pitchFamily="34" charset="0"/>
              </a:rPr>
              <a:t>Enable real-time summarization during streaming.</a:t>
            </a:r>
          </a:p>
          <a:p>
            <a:pPr marL="342900"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arrow" panose="020B0606020202030204" pitchFamily="34" charset="0"/>
              </a:rPr>
              <a:t>Enhance summary accuracy using transformer models.</a:t>
            </a:r>
          </a:p>
        </p:txBody>
      </p:sp>
    </p:spTree>
    <p:extLst>
      <p:ext uri="{BB962C8B-B14F-4D97-AF65-F5344CB8AC3E}">
        <p14:creationId xmlns:p14="http://schemas.microsoft.com/office/powerpoint/2010/main" val="28340704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76D369B-713B-4014-A618-ECDB661809BF}">
  <we:reference id="wa200005566" version="3.0.0.3" store="en-US" storeType="OMEX"/>
  <we:alternateReferences>
    <we:reference id="wa200005566" version="3.0.0.3" store="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374</TotalTime>
  <Words>821</Words>
  <Application>Microsoft Office PowerPoint</Application>
  <PresentationFormat>Widescreen</PresentationFormat>
  <Paragraphs>147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 Narrow</vt:lpstr>
      <vt:lpstr>Calibri</vt:lpstr>
      <vt:lpstr>Arial</vt:lpstr>
      <vt:lpstr>Times New Roman</vt:lpstr>
      <vt:lpstr>Office Theme</vt:lpstr>
      <vt:lpstr>PowerPoint Presentation</vt:lpstr>
      <vt:lpstr>PowerPoint Presentation</vt:lpstr>
      <vt:lpstr>OBJECTIVE OF THE PROJECT</vt:lpstr>
      <vt:lpstr>INTRODUCTION</vt:lpstr>
      <vt:lpstr>PowerPoint Presentation</vt:lpstr>
      <vt:lpstr>PowerPoint Presentation</vt:lpstr>
      <vt:lpstr>PowerPoint Presentation</vt:lpstr>
      <vt:lpstr>PowerPoint Presentation</vt:lpstr>
      <vt:lpstr>SOFTWARE AND HARDWARE REQUIREMENTS </vt:lpstr>
      <vt:lpstr>MODULES </vt:lpstr>
      <vt:lpstr>IMPLEMENTATION OF MODULE-1</vt:lpstr>
      <vt:lpstr>IMPLEMENTATION OF MODULE-2</vt:lpstr>
      <vt:lpstr>IMPLEMENTATION OF MODULE-3</vt:lpstr>
      <vt:lpstr>IMPLEMENTATION OF MODULE-4</vt:lpstr>
      <vt:lpstr>IMPLEMENTATION OF MODULE-5</vt:lpstr>
      <vt:lpstr>CONCLUSION</vt:lpstr>
      <vt:lpstr>FUTURE ENHANCEMENTS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Saravanan M</dc:creator>
  <cp:lastModifiedBy>kavin kirthik</cp:lastModifiedBy>
  <cp:revision>20</cp:revision>
  <dcterms:modified xsi:type="dcterms:W3CDTF">2025-11-27T07:06:46Z</dcterms:modified>
</cp:coreProperties>
</file>